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sldIdLst>
    <p:sldId id="256" r:id="rId2"/>
    <p:sldId id="257" r:id="rId3"/>
    <p:sldId id="265" r:id="rId4"/>
    <p:sldId id="264" r:id="rId5"/>
    <p:sldId id="263" r:id="rId6"/>
    <p:sldId id="259" r:id="rId7"/>
    <p:sldId id="262" r:id="rId8"/>
    <p:sldId id="261" r:id="rId9"/>
    <p:sldId id="260" r:id="rId10"/>
    <p:sldId id="267" r:id="rId11"/>
    <p:sldId id="266"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IN"/>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28C4530F-ADEF-47A5-A054-2BBEB4B0544A}" type="datetimeFigureOut">
              <a:rPr lang="en-IN" smtClean="0"/>
              <a:t>14-08-2026</a:t>
            </a:fld>
            <a:endParaRPr lang="en-IN"/>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6726023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1141782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27898318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21656172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1784856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1520116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28C4530F-ADEF-47A5-A054-2BBEB4B0544A}" type="datetimeFigureOut">
              <a:rPr lang="en-IN" smtClean="0"/>
              <a:t>14-08-2026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378860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1156719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82936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IN"/>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28C4530F-ADEF-47A5-A054-2BBEB4B0544A}" type="datetimeFigureOut">
              <a:rPr lang="en-IN" smtClean="0"/>
              <a:t>14-08-2026</a:t>
            </a:fld>
            <a:endParaRPr lang="en-IN"/>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1212554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IN"/>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28C4530F-ADEF-47A5-A054-2BBEB4B0544A}" type="datetimeFigureOut">
              <a:rPr lang="en-IN" smtClean="0"/>
              <a:t>14-08-2026</a:t>
            </a:fld>
            <a:endParaRPr lang="en-IN"/>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2659307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IN"/>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28C4530F-ADEF-47A5-A054-2BBEB4B0544A}" type="datetimeFigureOut">
              <a:rPr lang="en-IN" smtClean="0"/>
              <a:t>14-08-2026</a:t>
            </a:fld>
            <a:endParaRPr lang="en-IN"/>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2E6242CB-6193-4DD9-9C1A-33A71A4C5698}"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897568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28C4530F-ADEF-47A5-A054-2BBEB4B0544A}" type="datetimeFigureOut">
              <a:rPr lang="en-IN" smtClean="0"/>
              <a:t>14-08-2026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2E6242CB-6193-4DD9-9C1A-33A71A4C5698}"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73519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IN"/>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28C4530F-ADEF-47A5-A054-2BBEB4B0544A}" type="datetimeFigureOut">
              <a:rPr lang="en-IN" smtClean="0"/>
              <a:t>14-08-2026</a:t>
            </a:fld>
            <a:endParaRPr lang="en-IN"/>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2E6242CB-6193-4DD9-9C1A-33A71A4C5698}"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633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28C4530F-ADEF-47A5-A054-2BBEB4B0544A}" type="datetimeFigureOut">
              <a:rPr lang="en-IN" smtClean="0"/>
              <a:t>14-08-2026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533234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2067968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IN"/>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28C4530F-ADEF-47A5-A054-2BBEB4B0544A}" type="datetimeFigureOut">
              <a:rPr lang="en-IN" smtClean="0"/>
              <a:t>14-08-2026</a:t>
            </a:fld>
            <a:endParaRPr lang="en-IN"/>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26148470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16979326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8C4530F-ADEF-47A5-A054-2BBEB4B0544A}" type="datetimeFigureOut">
              <a:rPr lang="en-IN" smtClean="0"/>
              <a:t>14-08-2026</a:t>
            </a:fld>
            <a:endParaRPr lang="en-IN"/>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2E6242CB-6193-4DD9-9C1A-33A71A4C5698}" type="slidenum">
              <a:rPr lang="en-IN" smtClean="0"/>
              <a:t>‹#›</a:t>
            </a:fld>
            <a:endParaRPr lang="en-IN"/>
          </a:p>
        </p:txBody>
      </p:sp>
    </p:spTree>
    <p:extLst>
      <p:ext uri="{BB962C8B-B14F-4D97-AF65-F5344CB8AC3E}">
        <p14:creationId xmlns:p14="http://schemas.microsoft.com/office/powerpoint/2010/main" val="49688511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93303755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9591117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716650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IN"/>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364627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26532144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4282140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395788315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E6242CB-6193-4DD9-9C1A-33A71A4C5698}" type="slidenum">
              <a:rPr lang="en-IN" smtClean="0"/>
              <a:t>‹#›</a:t>
            </a:fld>
            <a:endParaRPr lang="en-IN"/>
          </a:p>
        </p:txBody>
      </p:sp>
    </p:spTree>
    <p:extLst>
      <p:ext uri="{BB962C8B-B14F-4D97-AF65-F5344CB8AC3E}">
        <p14:creationId xmlns:p14="http://schemas.microsoft.com/office/powerpoint/2010/main" val="63754053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28C4530F-ADEF-47A5-A054-2BBEB4B0544A}" type="datetimeFigureOut">
              <a:rPr lang="en-IN" smtClean="0"/>
              <a:t>14-08-2026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2E6242CB-6193-4DD9-9C1A-33A71A4C5698}" type="slidenum">
              <a:rPr lang="en-IN" smtClean="0"/>
              <a:t>‹#›</a:t>
            </a:fld>
            <a:endParaRPr lang="en-IN"/>
          </a:p>
        </p:txBody>
      </p:sp>
    </p:spTree>
    <p:extLst>
      <p:ext uri="{BB962C8B-B14F-4D97-AF65-F5344CB8AC3E}">
        <p14:creationId xmlns:p14="http://schemas.microsoft.com/office/powerpoint/2010/main" val="2845859859"/>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4E237-5295-6983-D82E-B74B19590053}"/>
              </a:ext>
            </a:extLst>
          </p:cNvPr>
          <p:cNvSpPr>
            <a:spLocks noGrp="1"/>
          </p:cNvSpPr>
          <p:nvPr>
            <p:ph type="ctrTitle"/>
          </p:nvPr>
        </p:nvSpPr>
        <p:spPr>
          <a:xfrm>
            <a:off x="2132076" y="1065434"/>
            <a:ext cx="7066788" cy="1508126"/>
          </a:xfrm>
        </p:spPr>
        <p:txBody>
          <a:bodyPr>
            <a:normAutofit fontScale="90000"/>
          </a:bodyPr>
          <a:lstStyle/>
          <a:p>
            <a:pPr algn="ctr"/>
            <a:r>
              <a:rPr lang="en-US" sz="2000" b="1" dirty="0">
                <a:latin typeface="Century" panose="02040604050505020304" pitchFamily="18" charset="0"/>
              </a:rPr>
              <a:t>Data Analytics and Visualization</a:t>
            </a:r>
            <a:br>
              <a:rPr lang="en-US" sz="2000" b="1" dirty="0">
                <a:latin typeface="Century" panose="02040604050505020304" pitchFamily="18" charset="0"/>
              </a:rPr>
            </a:br>
            <a:r>
              <a:rPr lang="en-US" sz="2000" b="1" dirty="0">
                <a:latin typeface="Century" panose="02040604050505020304" pitchFamily="18" charset="0"/>
              </a:rPr>
              <a:t>(24DSB3101)</a:t>
            </a:r>
            <a:br>
              <a:rPr lang="en-US" sz="2000" b="1" dirty="0">
                <a:latin typeface="Century" panose="02040604050505020304" pitchFamily="18" charset="0"/>
              </a:rPr>
            </a:br>
            <a:br>
              <a:rPr lang="en-US" sz="2000" b="1" dirty="0"/>
            </a:br>
            <a:br>
              <a:rPr lang="en-US" sz="2000" b="1" dirty="0"/>
            </a:br>
            <a:br>
              <a:rPr lang="en-US" sz="2000" b="1" dirty="0"/>
            </a:br>
            <a:r>
              <a:rPr lang="en-US" sz="3100" b="0" dirty="0"/>
              <a:t>Comparative Study of Recommendation Systems Using Machine Learning</a:t>
            </a:r>
            <a:endParaRPr lang="en-IN" dirty="0"/>
          </a:p>
        </p:txBody>
      </p:sp>
      <p:sp>
        <p:nvSpPr>
          <p:cNvPr id="3" name="Subtitle 2">
            <a:extLst>
              <a:ext uri="{FF2B5EF4-FFF2-40B4-BE49-F238E27FC236}">
                <a16:creationId xmlns:a16="http://schemas.microsoft.com/office/drawing/2014/main" id="{7E75B59A-7928-9317-C87D-1ADD4AF5AA88}"/>
              </a:ext>
            </a:extLst>
          </p:cNvPr>
          <p:cNvSpPr>
            <a:spLocks noGrp="1"/>
          </p:cNvSpPr>
          <p:nvPr>
            <p:ph type="subTitle" idx="1"/>
          </p:nvPr>
        </p:nvSpPr>
        <p:spPr>
          <a:xfrm>
            <a:off x="2774442" y="2976023"/>
            <a:ext cx="5782056" cy="1655762"/>
          </a:xfrm>
        </p:spPr>
        <p:txBody>
          <a:bodyPr>
            <a:noAutofit/>
          </a:bodyPr>
          <a:lstStyle/>
          <a:p>
            <a:pPr algn="ctr"/>
            <a:r>
              <a:rPr lang="en-US" sz="1600" i="1" dirty="0">
                <a:solidFill>
                  <a:srgbClr val="FF0000"/>
                </a:solidFill>
                <a:latin typeface="Century" panose="02040604050505020304" pitchFamily="18" charset="0"/>
              </a:rPr>
              <a:t>Under the Esteemed guidance of</a:t>
            </a:r>
          </a:p>
          <a:p>
            <a:endParaRPr lang="en-US" sz="1600" dirty="0">
              <a:latin typeface="Century" panose="02040604050505020304" pitchFamily="18" charset="0"/>
            </a:endParaRPr>
          </a:p>
          <a:p>
            <a:pPr algn="ctr"/>
            <a:r>
              <a:rPr lang="en-US" sz="1600" dirty="0">
                <a:latin typeface="Century" panose="02040604050505020304" pitchFamily="18" charset="0"/>
              </a:rPr>
              <a:t>Dr K. Swapnika</a:t>
            </a:r>
          </a:p>
          <a:p>
            <a:pPr algn="ctr"/>
            <a:endParaRPr lang="en-US" sz="1600" dirty="0">
              <a:latin typeface="Century" panose="02040604050505020304" pitchFamily="18" charset="0"/>
            </a:endParaRPr>
          </a:p>
          <a:p>
            <a:pPr algn="ctr"/>
            <a:r>
              <a:rPr lang="en-US" sz="1600" dirty="0">
                <a:solidFill>
                  <a:srgbClr val="00B0F0"/>
                </a:solidFill>
                <a:latin typeface="Century" panose="02040604050505020304" pitchFamily="18" charset="0"/>
              </a:rPr>
              <a:t>Assistant Professor</a:t>
            </a:r>
          </a:p>
          <a:p>
            <a:endParaRPr lang="en-US" sz="1600" dirty="0">
              <a:latin typeface="Century" panose="02040604050505020304" pitchFamily="18" charset="0"/>
            </a:endParaRPr>
          </a:p>
          <a:p>
            <a:pPr algn="ctr"/>
            <a:r>
              <a:rPr lang="en-US" sz="1600" dirty="0">
                <a:solidFill>
                  <a:srgbClr val="0070C0"/>
                </a:solidFill>
                <a:latin typeface="Century" panose="02040604050505020304" pitchFamily="18" charset="0"/>
              </a:rPr>
              <a:t>Department Of Computer Science and Engineering</a:t>
            </a:r>
            <a:endParaRPr lang="en-IN" sz="1600" dirty="0">
              <a:solidFill>
                <a:srgbClr val="0070C0"/>
              </a:solidFill>
              <a:latin typeface="Century" panose="02040604050505020304" pitchFamily="18" charset="0"/>
            </a:endParaRPr>
          </a:p>
          <a:p>
            <a:endParaRPr lang="en-IN" sz="1600" dirty="0"/>
          </a:p>
        </p:txBody>
      </p:sp>
      <p:sp>
        <p:nvSpPr>
          <p:cNvPr id="4" name="TextBox 3">
            <a:extLst>
              <a:ext uri="{FF2B5EF4-FFF2-40B4-BE49-F238E27FC236}">
                <a16:creationId xmlns:a16="http://schemas.microsoft.com/office/drawing/2014/main" id="{6EF65731-AA38-44F5-D1CC-BC5E02E132E8}"/>
              </a:ext>
            </a:extLst>
          </p:cNvPr>
          <p:cNvSpPr txBox="1"/>
          <p:nvPr/>
        </p:nvSpPr>
        <p:spPr>
          <a:xfrm>
            <a:off x="8410194" y="3803904"/>
            <a:ext cx="3330702" cy="2951321"/>
          </a:xfrm>
          <a:prstGeom prst="rect">
            <a:avLst/>
          </a:prstGeom>
          <a:noFill/>
        </p:spPr>
        <p:txBody>
          <a:bodyPr wrap="square" rtlCol="0">
            <a:spAutoFit/>
          </a:bodyPr>
          <a:lstStyle/>
          <a:p>
            <a:pPr algn="ctr"/>
            <a:r>
              <a:rPr lang="en-US" dirty="0">
                <a:latin typeface="Century" panose="02040604050505020304" pitchFamily="18" charset="0"/>
              </a:rPr>
              <a:t>Submitted by: Batch 6</a:t>
            </a:r>
          </a:p>
          <a:p>
            <a:pPr algn="ctr"/>
            <a:endParaRPr lang="en-US" dirty="0">
              <a:latin typeface="Century" panose="02040604050505020304" pitchFamily="18" charset="0"/>
            </a:endParaRPr>
          </a:p>
          <a:p>
            <a:r>
              <a:rPr lang="en-US" dirty="0">
                <a:latin typeface="Century" panose="02040604050505020304" pitchFamily="18" charset="0"/>
              </a:rPr>
              <a:t>Team Members:</a:t>
            </a:r>
          </a:p>
          <a:p>
            <a:pPr>
              <a:lnSpc>
                <a:spcPct val="150000"/>
              </a:lnSpc>
            </a:pPr>
            <a:r>
              <a:rPr lang="en-US" dirty="0">
                <a:latin typeface="Century" panose="02040604050505020304" pitchFamily="18" charset="0"/>
              </a:rPr>
              <a:t>2420080028 –Harini Priya</a:t>
            </a:r>
          </a:p>
          <a:p>
            <a:pPr>
              <a:lnSpc>
                <a:spcPct val="150000"/>
              </a:lnSpc>
            </a:pPr>
            <a:r>
              <a:rPr lang="en-US" dirty="0">
                <a:latin typeface="Century" panose="02040604050505020304" pitchFamily="18" charset="0"/>
              </a:rPr>
              <a:t>2420080041 – </a:t>
            </a:r>
            <a:r>
              <a:rPr lang="en-US" dirty="0" err="1">
                <a:latin typeface="Century" panose="02040604050505020304" pitchFamily="18" charset="0"/>
              </a:rPr>
              <a:t>K.Soumya</a:t>
            </a:r>
            <a:endParaRPr lang="en-US" dirty="0">
              <a:latin typeface="Century" panose="02040604050505020304" pitchFamily="18" charset="0"/>
            </a:endParaRPr>
          </a:p>
          <a:p>
            <a:pPr>
              <a:lnSpc>
                <a:spcPct val="150000"/>
              </a:lnSpc>
            </a:pPr>
            <a:r>
              <a:rPr lang="en-US" dirty="0">
                <a:latin typeface="Century" panose="02040604050505020304" pitchFamily="18" charset="0"/>
              </a:rPr>
              <a:t>2420080067–</a:t>
            </a:r>
            <a:r>
              <a:rPr lang="en-US" dirty="0" err="1">
                <a:latin typeface="Century" panose="02040604050505020304" pitchFamily="18" charset="0"/>
              </a:rPr>
              <a:t>M.Abhiram</a:t>
            </a:r>
            <a:r>
              <a:rPr lang="en-US" dirty="0">
                <a:latin typeface="Century" panose="02040604050505020304" pitchFamily="18" charset="0"/>
              </a:rPr>
              <a:t> Reddy </a:t>
            </a:r>
          </a:p>
          <a:p>
            <a:pPr>
              <a:lnSpc>
                <a:spcPct val="150000"/>
              </a:lnSpc>
            </a:pPr>
            <a:r>
              <a:rPr lang="en-US" dirty="0">
                <a:latin typeface="Century" panose="02040604050505020304" pitchFamily="18" charset="0"/>
              </a:rPr>
              <a:t>2420080084 –Arshiya Naaz</a:t>
            </a:r>
            <a:endParaRPr lang="en-IN" dirty="0"/>
          </a:p>
        </p:txBody>
      </p:sp>
      <p:pic>
        <p:nvPicPr>
          <p:cNvPr id="6" name="Picture 5">
            <a:extLst>
              <a:ext uri="{FF2B5EF4-FFF2-40B4-BE49-F238E27FC236}">
                <a16:creationId xmlns:a16="http://schemas.microsoft.com/office/drawing/2014/main" id="{2011ECFE-D91F-F55C-3337-98759DC8BBDE}"/>
              </a:ext>
            </a:extLst>
          </p:cNvPr>
          <p:cNvPicPr>
            <a:picLocks noChangeAspect="1"/>
          </p:cNvPicPr>
          <p:nvPr/>
        </p:nvPicPr>
        <p:blipFill>
          <a:blip r:embed="rId2"/>
          <a:stretch>
            <a:fillRect/>
          </a:stretch>
        </p:blipFill>
        <p:spPr>
          <a:xfrm>
            <a:off x="10829490" y="87330"/>
            <a:ext cx="1249788" cy="1255885"/>
          </a:xfrm>
          <a:prstGeom prst="rect">
            <a:avLst/>
          </a:prstGeom>
        </p:spPr>
      </p:pic>
    </p:spTree>
    <p:extLst>
      <p:ext uri="{BB962C8B-B14F-4D97-AF65-F5344CB8AC3E}">
        <p14:creationId xmlns:p14="http://schemas.microsoft.com/office/powerpoint/2010/main" val="741345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00497-0B8A-A85F-D7C1-9593013B243F}"/>
              </a:ext>
            </a:extLst>
          </p:cNvPr>
          <p:cNvSpPr>
            <a:spLocks noGrp="1"/>
          </p:cNvSpPr>
          <p:nvPr>
            <p:ph type="title"/>
          </p:nvPr>
        </p:nvSpPr>
        <p:spPr>
          <a:xfrm>
            <a:off x="838200" y="365125"/>
            <a:ext cx="8662416" cy="421259"/>
          </a:xfrm>
        </p:spPr>
        <p:txBody>
          <a:bodyPr>
            <a:normAutofit fontScale="90000"/>
          </a:bodyPr>
          <a:lstStyle/>
          <a:p>
            <a:r>
              <a:rPr lang="en-US" dirty="0">
                <a:latin typeface="Century" panose="02040604050505020304" pitchFamily="18" charset="0"/>
              </a:rPr>
              <a:t>Contents</a:t>
            </a:r>
            <a:endParaRPr lang="en-IN" dirty="0"/>
          </a:p>
        </p:txBody>
      </p:sp>
      <p:sp>
        <p:nvSpPr>
          <p:cNvPr id="3" name="Content Placeholder 2">
            <a:extLst>
              <a:ext uri="{FF2B5EF4-FFF2-40B4-BE49-F238E27FC236}">
                <a16:creationId xmlns:a16="http://schemas.microsoft.com/office/drawing/2014/main" id="{40480AA3-BC37-14C1-C220-2F43E1058B33}"/>
              </a:ext>
            </a:extLst>
          </p:cNvPr>
          <p:cNvSpPr>
            <a:spLocks noGrp="1"/>
          </p:cNvSpPr>
          <p:nvPr>
            <p:ph idx="1"/>
          </p:nvPr>
        </p:nvSpPr>
        <p:spPr>
          <a:xfrm>
            <a:off x="1021080" y="1075816"/>
            <a:ext cx="7812024" cy="5306695"/>
          </a:xfrm>
        </p:spPr>
        <p:txBody>
          <a:bodyPr>
            <a:normAutofit/>
          </a:bodyPr>
          <a:lstStyle/>
          <a:p>
            <a:pPr lvl="0">
              <a:lnSpc>
                <a:spcPct val="150000"/>
              </a:lnSpc>
            </a:pPr>
            <a:r>
              <a:rPr lang="en-IN" dirty="0">
                <a:latin typeface="Century" panose="02040604050505020304" pitchFamily="18" charset="0"/>
              </a:rPr>
              <a:t>Introduction / Abstract </a:t>
            </a:r>
          </a:p>
          <a:p>
            <a:pPr lvl="0">
              <a:lnSpc>
                <a:spcPct val="150000"/>
              </a:lnSpc>
            </a:pPr>
            <a:r>
              <a:rPr lang="en-IN" dirty="0">
                <a:latin typeface="Century" panose="02040604050505020304" pitchFamily="18" charset="0"/>
              </a:rPr>
              <a:t>Problem Statement </a:t>
            </a:r>
          </a:p>
          <a:p>
            <a:pPr lvl="0">
              <a:lnSpc>
                <a:spcPct val="150000"/>
              </a:lnSpc>
            </a:pPr>
            <a:r>
              <a:rPr lang="en-IN" dirty="0">
                <a:latin typeface="Century" panose="02040604050505020304" pitchFamily="18" charset="0"/>
              </a:rPr>
              <a:t>Project Objectives </a:t>
            </a:r>
          </a:p>
          <a:p>
            <a:pPr lvl="0">
              <a:lnSpc>
                <a:spcPct val="150000"/>
              </a:lnSpc>
            </a:pPr>
            <a:r>
              <a:rPr lang="en-IN" dirty="0">
                <a:latin typeface="Century" panose="02040604050505020304" pitchFamily="18" charset="0"/>
              </a:rPr>
              <a:t>Literature Survey</a:t>
            </a:r>
          </a:p>
          <a:p>
            <a:pPr lvl="0">
              <a:lnSpc>
                <a:spcPct val="150000"/>
              </a:lnSpc>
            </a:pPr>
            <a:r>
              <a:rPr lang="en-IN" dirty="0">
                <a:latin typeface="Century" panose="02040604050505020304" pitchFamily="18" charset="0"/>
              </a:rPr>
              <a:t>Project flow diagram</a:t>
            </a:r>
          </a:p>
          <a:p>
            <a:pPr lvl="0">
              <a:lnSpc>
                <a:spcPct val="150000"/>
              </a:lnSpc>
            </a:pPr>
            <a:r>
              <a:rPr lang="en-IN" dirty="0">
                <a:latin typeface="Century" panose="02040604050505020304" pitchFamily="18" charset="0"/>
              </a:rPr>
              <a:t>Research Gap Identification</a:t>
            </a:r>
          </a:p>
          <a:p>
            <a:pPr>
              <a:lnSpc>
                <a:spcPct val="150000"/>
              </a:lnSpc>
            </a:pPr>
            <a:r>
              <a:rPr lang="en-US" dirty="0">
                <a:latin typeface="Times New Roman" pitchFamily="18" charset="0"/>
                <a:cs typeface="Times New Roman" pitchFamily="18" charset="0"/>
              </a:rPr>
              <a:t>Novelty</a:t>
            </a:r>
            <a:endParaRPr lang="en-IN" dirty="0">
              <a:latin typeface="Century" panose="02040604050505020304" pitchFamily="18" charset="0"/>
            </a:endParaRPr>
          </a:p>
          <a:p>
            <a:pPr lvl="0">
              <a:lnSpc>
                <a:spcPct val="150000"/>
              </a:lnSpc>
            </a:pPr>
            <a:r>
              <a:rPr lang="en-IN" dirty="0">
                <a:latin typeface="Century" panose="02040604050505020304" pitchFamily="18" charset="0"/>
              </a:rPr>
              <a:t>Innovation </a:t>
            </a:r>
          </a:p>
          <a:p>
            <a:pPr lvl="0">
              <a:lnSpc>
                <a:spcPct val="150000"/>
              </a:lnSpc>
            </a:pPr>
            <a:r>
              <a:rPr lang="en-IN" dirty="0">
                <a:latin typeface="Century" panose="02040604050505020304" pitchFamily="18" charset="0"/>
              </a:rPr>
              <a:t>Feasibility &amp; Project Plan </a:t>
            </a:r>
          </a:p>
          <a:p>
            <a:endParaRPr lang="en-IN" dirty="0"/>
          </a:p>
        </p:txBody>
      </p:sp>
      <p:pic>
        <p:nvPicPr>
          <p:cNvPr id="5" name="Picture 4">
            <a:extLst>
              <a:ext uri="{FF2B5EF4-FFF2-40B4-BE49-F238E27FC236}">
                <a16:creationId xmlns:a16="http://schemas.microsoft.com/office/drawing/2014/main" id="{DC8B4EE8-50E1-2116-6071-675EED69F1C5}"/>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2120822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F4B8-4513-05EF-81A8-B9A130EDA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EBC82-DF7F-00C7-26B8-D65F919C7E64}"/>
              </a:ext>
            </a:extLst>
          </p:cNvPr>
          <p:cNvSpPr>
            <a:spLocks noGrp="1"/>
          </p:cNvSpPr>
          <p:nvPr>
            <p:ph type="title"/>
          </p:nvPr>
        </p:nvSpPr>
        <p:spPr>
          <a:xfrm>
            <a:off x="838200" y="365125"/>
            <a:ext cx="7812024" cy="1325563"/>
          </a:xfrm>
        </p:spPr>
        <p:txBody>
          <a:bodyPr/>
          <a:lstStyle/>
          <a:p>
            <a:r>
              <a:rPr lang="en-US" dirty="0">
                <a:latin typeface="Century" panose="02040604050505020304" pitchFamily="18" charset="0"/>
              </a:rPr>
              <a:t>Introduction</a:t>
            </a:r>
            <a:endParaRPr lang="en-IN" dirty="0"/>
          </a:p>
        </p:txBody>
      </p:sp>
      <p:sp>
        <p:nvSpPr>
          <p:cNvPr id="3" name="Content Placeholder 2">
            <a:extLst>
              <a:ext uri="{FF2B5EF4-FFF2-40B4-BE49-F238E27FC236}">
                <a16:creationId xmlns:a16="http://schemas.microsoft.com/office/drawing/2014/main" id="{7D44B956-59B9-43DF-053C-B3AABC25BE31}"/>
              </a:ext>
            </a:extLst>
          </p:cNvPr>
          <p:cNvSpPr>
            <a:spLocks noGrp="1"/>
          </p:cNvSpPr>
          <p:nvPr>
            <p:ph idx="1"/>
          </p:nvPr>
        </p:nvSpPr>
        <p:spPr>
          <a:xfrm>
            <a:off x="765048" y="1624457"/>
            <a:ext cx="10253472" cy="4351338"/>
          </a:xfrm>
        </p:spPr>
        <p:txBody>
          <a:bodyPr>
            <a:normAutofit/>
          </a:bodyPr>
          <a:lstStyle/>
          <a:p>
            <a:r>
              <a:rPr lang="en-US" dirty="0"/>
              <a:t>The proposed project focuses on the comparative analysis of different recommendation system techniques used to provide personalized recommendations.</a:t>
            </a:r>
          </a:p>
          <a:p>
            <a:r>
              <a:rPr lang="en-US" dirty="0"/>
              <a:t> The study considers popularity-based recommendation, content-based filtering, collaborative filtering, matrix factorization and machine learning-based recommendation models. </a:t>
            </a:r>
          </a:p>
          <a:p>
            <a:r>
              <a:rPr lang="en-US" dirty="0"/>
              <a:t>The project aims to compare these approaches using standard recommendation and rating-prediction metrics and identify suitable approaches for different recommendation scenarios.</a:t>
            </a:r>
            <a:endParaRPr lang="en-IN" dirty="0"/>
          </a:p>
          <a:p>
            <a:endParaRPr lang="en-IN" dirty="0"/>
          </a:p>
        </p:txBody>
      </p:sp>
      <p:pic>
        <p:nvPicPr>
          <p:cNvPr id="5" name="Picture 4">
            <a:extLst>
              <a:ext uri="{FF2B5EF4-FFF2-40B4-BE49-F238E27FC236}">
                <a16:creationId xmlns:a16="http://schemas.microsoft.com/office/drawing/2014/main" id="{C1C6F4D2-FE24-A0CC-E46E-FA72A40A2A43}"/>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3563812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052A7-0899-D57A-2A98-35C3AFA11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2A5F4-8826-08A0-C7BE-026783922C3E}"/>
              </a:ext>
            </a:extLst>
          </p:cNvPr>
          <p:cNvSpPr>
            <a:spLocks noGrp="1"/>
          </p:cNvSpPr>
          <p:nvPr>
            <p:ph type="title"/>
          </p:nvPr>
        </p:nvSpPr>
        <p:spPr>
          <a:xfrm>
            <a:off x="838200" y="365125"/>
            <a:ext cx="7812024" cy="1325563"/>
          </a:xfrm>
        </p:spPr>
        <p:txBody>
          <a:bodyPr/>
          <a:lstStyle/>
          <a:p>
            <a:r>
              <a:rPr lang="en-IN" dirty="0">
                <a:latin typeface="Century" panose="02040604050505020304" pitchFamily="18" charset="0"/>
              </a:rPr>
              <a:t>Problem Statement</a:t>
            </a:r>
            <a:endParaRPr lang="en-IN" dirty="0"/>
          </a:p>
        </p:txBody>
      </p:sp>
      <p:sp>
        <p:nvSpPr>
          <p:cNvPr id="3" name="Content Placeholder 2">
            <a:extLst>
              <a:ext uri="{FF2B5EF4-FFF2-40B4-BE49-F238E27FC236}">
                <a16:creationId xmlns:a16="http://schemas.microsoft.com/office/drawing/2014/main" id="{FE75E734-6D0B-38C0-DBC8-7A4D31F0F8FD}"/>
              </a:ext>
            </a:extLst>
          </p:cNvPr>
          <p:cNvSpPr>
            <a:spLocks noGrp="1"/>
          </p:cNvSpPr>
          <p:nvPr>
            <p:ph idx="1"/>
          </p:nvPr>
        </p:nvSpPr>
        <p:spPr>
          <a:xfrm>
            <a:off x="838200" y="1825625"/>
            <a:ext cx="9942576" cy="4351338"/>
          </a:xfrm>
        </p:spPr>
        <p:txBody>
          <a:bodyPr>
            <a:normAutofit/>
          </a:bodyPr>
          <a:lstStyle/>
          <a:p>
            <a:r>
              <a:rPr lang="en-US" dirty="0"/>
              <a:t>Recommendation systems help users discover relevant items such as movies, products and books from large collections. However, different recommendation techniques perform differently depending on user preferences, item characteristics, available data and the application domain.</a:t>
            </a:r>
            <a:endParaRPr lang="en-IN" dirty="0"/>
          </a:p>
          <a:p>
            <a:r>
              <a:rPr lang="en-US" dirty="0"/>
              <a:t>Therefore, this project aims to conduct a systematic comparative study of different recommendation system techniques and machine learning models using benchmark datasets. The study will evaluate recommendation quality, prediction accuracy, computational complexity and scalability to identify suitable approaches for different real-world applications.</a:t>
            </a:r>
            <a:endParaRPr lang="en-IN" dirty="0"/>
          </a:p>
          <a:p>
            <a:endParaRPr lang="en-IN" dirty="0"/>
          </a:p>
        </p:txBody>
      </p:sp>
      <p:pic>
        <p:nvPicPr>
          <p:cNvPr id="5" name="Picture 4">
            <a:extLst>
              <a:ext uri="{FF2B5EF4-FFF2-40B4-BE49-F238E27FC236}">
                <a16:creationId xmlns:a16="http://schemas.microsoft.com/office/drawing/2014/main" id="{DD308FEC-6651-5FF8-8C5B-326012457658}"/>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283166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F954F-DBA7-2BA9-0695-C9300243C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01319-B382-F9AE-0CEB-F1B7CF554CDF}"/>
              </a:ext>
            </a:extLst>
          </p:cNvPr>
          <p:cNvSpPr>
            <a:spLocks noGrp="1"/>
          </p:cNvSpPr>
          <p:nvPr>
            <p:ph type="title"/>
          </p:nvPr>
        </p:nvSpPr>
        <p:spPr>
          <a:xfrm>
            <a:off x="728472" y="462106"/>
            <a:ext cx="9567672" cy="666560"/>
          </a:xfrm>
        </p:spPr>
        <p:txBody>
          <a:bodyPr>
            <a:normAutofit/>
          </a:bodyPr>
          <a:lstStyle/>
          <a:p>
            <a:r>
              <a:rPr lang="en-IN" sz="3600" dirty="0">
                <a:latin typeface="Century" panose="02040604050505020304" pitchFamily="18" charset="0"/>
              </a:rPr>
              <a:t>Objectives</a:t>
            </a:r>
            <a:endParaRPr lang="en-IN" sz="3600" dirty="0"/>
          </a:p>
        </p:txBody>
      </p:sp>
      <p:sp>
        <p:nvSpPr>
          <p:cNvPr id="3" name="Content Placeholder 2">
            <a:extLst>
              <a:ext uri="{FF2B5EF4-FFF2-40B4-BE49-F238E27FC236}">
                <a16:creationId xmlns:a16="http://schemas.microsoft.com/office/drawing/2014/main" id="{932CED95-80ED-9469-8255-9CD0CD154D6F}"/>
              </a:ext>
            </a:extLst>
          </p:cNvPr>
          <p:cNvSpPr>
            <a:spLocks noGrp="1"/>
          </p:cNvSpPr>
          <p:nvPr>
            <p:ph idx="1"/>
          </p:nvPr>
        </p:nvSpPr>
        <p:spPr>
          <a:xfrm>
            <a:off x="838200" y="1423328"/>
            <a:ext cx="9695688" cy="4776303"/>
          </a:xfrm>
        </p:spPr>
        <p:txBody>
          <a:bodyPr>
            <a:normAutofit/>
          </a:bodyPr>
          <a:lstStyle/>
          <a:p>
            <a:pPr lvl="0"/>
            <a:r>
              <a:rPr lang="en-IN" b="1" dirty="0"/>
              <a:t>Data Preparation</a:t>
            </a:r>
            <a:r>
              <a:rPr lang="en-IN" dirty="0"/>
              <a:t> – Collect and preprocess recommendation datasets. </a:t>
            </a:r>
          </a:p>
          <a:p>
            <a:pPr lvl="0"/>
            <a:r>
              <a:rPr lang="en-IN" b="1" dirty="0"/>
              <a:t>EDA</a:t>
            </a:r>
            <a:r>
              <a:rPr lang="en-IN" dirty="0"/>
              <a:t> – </a:t>
            </a:r>
            <a:r>
              <a:rPr lang="en-IN" dirty="0" err="1"/>
              <a:t>Analyze</a:t>
            </a:r>
            <a:r>
              <a:rPr lang="en-IN" dirty="0"/>
              <a:t> users, items, ratings, and data quality. </a:t>
            </a:r>
          </a:p>
          <a:p>
            <a:pPr lvl="0"/>
            <a:r>
              <a:rPr lang="en-IN" b="1" dirty="0"/>
              <a:t>Popularity-Based</a:t>
            </a:r>
            <a:r>
              <a:rPr lang="en-IN" dirty="0"/>
              <a:t> – Recommend popular items. </a:t>
            </a:r>
          </a:p>
          <a:p>
            <a:pPr lvl="0"/>
            <a:r>
              <a:rPr lang="en-IN" b="1" dirty="0"/>
              <a:t>Content-Based</a:t>
            </a:r>
            <a:r>
              <a:rPr lang="en-IN" dirty="0"/>
              <a:t> – Recommend similar items using features. </a:t>
            </a:r>
          </a:p>
          <a:p>
            <a:pPr lvl="0"/>
            <a:r>
              <a:rPr lang="en-IN" b="1" dirty="0"/>
              <a:t>Collaborative Filtering</a:t>
            </a:r>
            <a:r>
              <a:rPr lang="en-IN" dirty="0"/>
              <a:t> – Recommend based on user/item similarities. </a:t>
            </a:r>
          </a:p>
          <a:p>
            <a:pPr lvl="0"/>
            <a:r>
              <a:rPr lang="en-IN" b="1" dirty="0"/>
              <a:t>Matrix Factorization</a:t>
            </a:r>
            <a:r>
              <a:rPr lang="en-IN" dirty="0"/>
              <a:t> – Apply SVD and NMF techniques. </a:t>
            </a:r>
          </a:p>
          <a:p>
            <a:pPr lvl="0"/>
            <a:r>
              <a:rPr lang="en-IN" b="1" dirty="0"/>
              <a:t>ML Models</a:t>
            </a:r>
            <a:r>
              <a:rPr lang="en-IN" dirty="0"/>
              <a:t> – Predict ratings using machine learning models. </a:t>
            </a:r>
          </a:p>
          <a:p>
            <a:pPr lvl="0"/>
            <a:r>
              <a:rPr lang="en-IN" b="1" dirty="0"/>
              <a:t>Evaluation</a:t>
            </a:r>
            <a:r>
              <a:rPr lang="en-IN" dirty="0"/>
              <a:t> – Measure model performance using different metrics. </a:t>
            </a:r>
          </a:p>
          <a:p>
            <a:pPr lvl="0"/>
            <a:r>
              <a:rPr lang="en-IN" b="1" dirty="0"/>
              <a:t>Comparison</a:t>
            </a:r>
            <a:r>
              <a:rPr lang="en-IN" dirty="0"/>
              <a:t> – Compare accuracy, quality, and scalability. </a:t>
            </a:r>
          </a:p>
          <a:p>
            <a:pPr lvl="0"/>
            <a:r>
              <a:rPr lang="en-IN" b="1" dirty="0"/>
              <a:t>Applications</a:t>
            </a:r>
            <a:r>
              <a:rPr lang="en-IN" dirty="0"/>
              <a:t> – Select suitable methods for real-world systems.</a:t>
            </a:r>
          </a:p>
          <a:p>
            <a:endParaRPr lang="en-IN" dirty="0"/>
          </a:p>
        </p:txBody>
      </p:sp>
      <p:pic>
        <p:nvPicPr>
          <p:cNvPr id="5" name="Picture 4">
            <a:extLst>
              <a:ext uri="{FF2B5EF4-FFF2-40B4-BE49-F238E27FC236}">
                <a16:creationId xmlns:a16="http://schemas.microsoft.com/office/drawing/2014/main" id="{1A258995-31D8-19C8-ADFF-0A5EC06C1DB6}"/>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1789860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757C9-EFFE-DA13-6E1A-A2413AC8F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46570-82A4-6BF9-BA3B-442E51AFCCFB}"/>
              </a:ext>
            </a:extLst>
          </p:cNvPr>
          <p:cNvSpPr>
            <a:spLocks noGrp="1"/>
          </p:cNvSpPr>
          <p:nvPr>
            <p:ph type="title"/>
          </p:nvPr>
        </p:nvSpPr>
        <p:spPr>
          <a:xfrm>
            <a:off x="838200" y="365125"/>
            <a:ext cx="9613392" cy="576707"/>
          </a:xfrm>
        </p:spPr>
        <p:txBody>
          <a:bodyPr>
            <a:normAutofit/>
          </a:bodyPr>
          <a:lstStyle/>
          <a:p>
            <a:r>
              <a:rPr lang="en-IN" dirty="0">
                <a:latin typeface="Century" panose="02040604050505020304" pitchFamily="18" charset="0"/>
              </a:rPr>
              <a:t>Literature Survey</a:t>
            </a:r>
            <a:endParaRPr lang="en-IN" dirty="0"/>
          </a:p>
        </p:txBody>
      </p:sp>
      <p:graphicFrame>
        <p:nvGraphicFramePr>
          <p:cNvPr id="4" name="Content Placeholder 3">
            <a:extLst>
              <a:ext uri="{FF2B5EF4-FFF2-40B4-BE49-F238E27FC236}">
                <a16:creationId xmlns:a16="http://schemas.microsoft.com/office/drawing/2014/main" id="{883D9C7D-C3CF-FDAC-F69D-61B888B5EE66}"/>
              </a:ext>
            </a:extLst>
          </p:cNvPr>
          <p:cNvGraphicFramePr>
            <a:graphicFrameLocks noGrp="1"/>
          </p:cNvGraphicFramePr>
          <p:nvPr>
            <p:ph idx="1"/>
            <p:extLst>
              <p:ext uri="{D42A27DB-BD31-4B8C-83A1-F6EECF244321}">
                <p14:modId xmlns:p14="http://schemas.microsoft.com/office/powerpoint/2010/main" val="4031857518"/>
              </p:ext>
            </p:extLst>
          </p:nvPr>
        </p:nvGraphicFramePr>
        <p:xfrm>
          <a:off x="757461" y="1051560"/>
          <a:ext cx="9922730" cy="5163535"/>
        </p:xfrm>
        <a:graphic>
          <a:graphicData uri="http://schemas.openxmlformats.org/drawingml/2006/table">
            <a:tbl>
              <a:tblPr firstRow="1" firstCol="1" bandRow="1">
                <a:tableStyleId>{5C22544A-7EE6-4342-B048-85BDC9FD1C3A}</a:tableStyleId>
              </a:tblPr>
              <a:tblGrid>
                <a:gridCol w="1984546">
                  <a:extLst>
                    <a:ext uri="{9D8B030D-6E8A-4147-A177-3AD203B41FA5}">
                      <a16:colId xmlns:a16="http://schemas.microsoft.com/office/drawing/2014/main" val="1248524047"/>
                    </a:ext>
                  </a:extLst>
                </a:gridCol>
                <a:gridCol w="1984546">
                  <a:extLst>
                    <a:ext uri="{9D8B030D-6E8A-4147-A177-3AD203B41FA5}">
                      <a16:colId xmlns:a16="http://schemas.microsoft.com/office/drawing/2014/main" val="3265879236"/>
                    </a:ext>
                  </a:extLst>
                </a:gridCol>
                <a:gridCol w="1984546">
                  <a:extLst>
                    <a:ext uri="{9D8B030D-6E8A-4147-A177-3AD203B41FA5}">
                      <a16:colId xmlns:a16="http://schemas.microsoft.com/office/drawing/2014/main" val="3090241851"/>
                    </a:ext>
                  </a:extLst>
                </a:gridCol>
                <a:gridCol w="1984546">
                  <a:extLst>
                    <a:ext uri="{9D8B030D-6E8A-4147-A177-3AD203B41FA5}">
                      <a16:colId xmlns:a16="http://schemas.microsoft.com/office/drawing/2014/main" val="2336882328"/>
                    </a:ext>
                  </a:extLst>
                </a:gridCol>
                <a:gridCol w="1984546">
                  <a:extLst>
                    <a:ext uri="{9D8B030D-6E8A-4147-A177-3AD203B41FA5}">
                      <a16:colId xmlns:a16="http://schemas.microsoft.com/office/drawing/2014/main" val="3428043427"/>
                    </a:ext>
                  </a:extLst>
                </a:gridCol>
              </a:tblGrid>
              <a:tr h="188800">
                <a:tc>
                  <a:txBody>
                    <a:bodyPr/>
                    <a:lstStyle/>
                    <a:p>
                      <a:pPr>
                        <a:lnSpc>
                          <a:spcPct val="115000"/>
                        </a:lnSpc>
                        <a:spcAft>
                          <a:spcPts val="1000"/>
                        </a:spcAft>
                        <a:buNone/>
                      </a:pPr>
                      <a:r>
                        <a:rPr lang="en-US" sz="900">
                          <a:effectLst/>
                        </a:rPr>
                        <a:t>Year</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Author(s)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Paper / Research Area</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Method / Finding</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Gap / Relevance</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381441988"/>
                  </a:ext>
                </a:extLst>
              </a:tr>
              <a:tr h="994947">
                <a:tc>
                  <a:txBody>
                    <a:bodyPr/>
                    <a:lstStyle/>
                    <a:p>
                      <a:pPr>
                        <a:lnSpc>
                          <a:spcPct val="115000"/>
                        </a:lnSpc>
                        <a:spcAft>
                          <a:spcPts val="1000"/>
                        </a:spcAft>
                        <a:buNone/>
                      </a:pPr>
                      <a:r>
                        <a:rPr lang="en-US" sz="900">
                          <a:effectLst/>
                        </a:rPr>
                        <a:t>2001</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Sarwar, Karypis, Konstan &amp; Riedl</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Item-Based Collaborative Filtering Recommendation Algorithms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Studies item-based collaborative filtering using item-item relationships for recommendations.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Provides an important foundation for collaborative filtering; sparsity and scalability remain relevant.</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293871361"/>
                  </a:ext>
                </a:extLst>
              </a:tr>
              <a:tr h="994947">
                <a:tc>
                  <a:txBody>
                    <a:bodyPr/>
                    <a:lstStyle/>
                    <a:p>
                      <a:pPr>
                        <a:lnSpc>
                          <a:spcPct val="115000"/>
                        </a:lnSpc>
                        <a:spcAft>
                          <a:spcPts val="1000"/>
                        </a:spcAft>
                        <a:buNone/>
                      </a:pPr>
                      <a:r>
                        <a:rPr lang="en-US" sz="900">
                          <a:effectLst/>
                        </a:rPr>
                        <a:t>2003</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Linden, Smith &amp; York</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Amazon.com Recommendations: Item-to-Item Collaborative Filtering</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Introduces item-to-item collaborative filtering for large-scale commercial recommendation.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Highly relevant to e-commerce recommendation but focuses mainly on item-based filtering.</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854791255"/>
                  </a:ext>
                </a:extLst>
              </a:tr>
              <a:tr h="994947">
                <a:tc>
                  <a:txBody>
                    <a:bodyPr/>
                    <a:lstStyle/>
                    <a:p>
                      <a:pPr>
                        <a:lnSpc>
                          <a:spcPct val="115000"/>
                        </a:lnSpc>
                        <a:spcAft>
                          <a:spcPts val="1000"/>
                        </a:spcAft>
                        <a:buNone/>
                      </a:pPr>
                      <a:r>
                        <a:rPr lang="en-US" sz="900">
                          <a:effectLst/>
                        </a:rPr>
                        <a:t>2009</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Koren, Bell &amp; Volinsky</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Matrix Factorization Techniques for Recommender Systems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Demonstrates the effectiveness of matrix factorization for learning latent user-item relationships.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Strong foundation for latent-factor modelling; computational requirements remain relevant.</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428291108"/>
                  </a:ext>
                </a:extLst>
              </a:tr>
              <a:tr h="793410">
                <a:tc>
                  <a:txBody>
                    <a:bodyPr/>
                    <a:lstStyle/>
                    <a:p>
                      <a:pPr>
                        <a:lnSpc>
                          <a:spcPct val="115000"/>
                        </a:lnSpc>
                        <a:spcAft>
                          <a:spcPts val="1000"/>
                        </a:spcAft>
                        <a:buNone/>
                      </a:pPr>
                      <a:r>
                        <a:rPr lang="en-US" sz="900">
                          <a:effectLst/>
                        </a:rPr>
                        <a:t>2010</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Koren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Collaborative Filtering with Temporal Dynamics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Incorporates temporal changes in user preferences into collaborative filtering.</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Shows the importance of changing preferences but increases modelling complexity.</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095253556"/>
                  </a:ext>
                </a:extLst>
              </a:tr>
              <a:tr h="1196484">
                <a:tc>
                  <a:txBody>
                    <a:bodyPr/>
                    <a:lstStyle/>
                    <a:p>
                      <a:pPr>
                        <a:lnSpc>
                          <a:spcPct val="115000"/>
                        </a:lnSpc>
                        <a:spcAft>
                          <a:spcPts val="1000"/>
                        </a:spcAft>
                        <a:buNone/>
                      </a:pPr>
                      <a:r>
                        <a:rPr lang="en-US" sz="900">
                          <a:effectLst/>
                        </a:rPr>
                        <a:t>2014</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He &amp; Chu</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Bayesian Optimization for Recommender Systems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Discusses optimization approaches for recommendation-system development.</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dirty="0">
                          <a:effectLst/>
                        </a:rPr>
                        <a:t>Useful for understanding optimization but not focused on a complete comparative framework.</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025987263"/>
                  </a:ext>
                </a:extLst>
              </a:tr>
            </a:tbl>
          </a:graphicData>
        </a:graphic>
      </p:graphicFrame>
      <p:pic>
        <p:nvPicPr>
          <p:cNvPr id="5" name="Picture 4">
            <a:extLst>
              <a:ext uri="{FF2B5EF4-FFF2-40B4-BE49-F238E27FC236}">
                <a16:creationId xmlns:a16="http://schemas.microsoft.com/office/drawing/2014/main" id="{B1343797-A890-6F27-166D-8CEA8C7712EA}"/>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3669179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FFA6-4D89-A386-DA78-F5342E4337A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28ED453-BA80-9EAD-2FAD-7A3E6EBEAB4C}"/>
              </a:ext>
            </a:extLst>
          </p:cNvPr>
          <p:cNvGraphicFramePr>
            <a:graphicFrameLocks noGrp="1"/>
          </p:cNvGraphicFramePr>
          <p:nvPr>
            <p:ph idx="1"/>
            <p:extLst>
              <p:ext uri="{D42A27DB-BD31-4B8C-83A1-F6EECF244321}">
                <p14:modId xmlns:p14="http://schemas.microsoft.com/office/powerpoint/2010/main" val="2499144235"/>
              </p:ext>
            </p:extLst>
          </p:nvPr>
        </p:nvGraphicFramePr>
        <p:xfrm>
          <a:off x="838200" y="1069085"/>
          <a:ext cx="9686545" cy="5039107"/>
        </p:xfrm>
        <a:graphic>
          <a:graphicData uri="http://schemas.openxmlformats.org/drawingml/2006/table">
            <a:tbl>
              <a:tblPr firstRow="1" firstCol="1" bandRow="1">
                <a:tableStyleId>{5C22544A-7EE6-4342-B048-85BDC9FD1C3A}</a:tableStyleId>
              </a:tblPr>
              <a:tblGrid>
                <a:gridCol w="1937309">
                  <a:extLst>
                    <a:ext uri="{9D8B030D-6E8A-4147-A177-3AD203B41FA5}">
                      <a16:colId xmlns:a16="http://schemas.microsoft.com/office/drawing/2014/main" val="938359379"/>
                    </a:ext>
                  </a:extLst>
                </a:gridCol>
                <a:gridCol w="1937309">
                  <a:extLst>
                    <a:ext uri="{9D8B030D-6E8A-4147-A177-3AD203B41FA5}">
                      <a16:colId xmlns:a16="http://schemas.microsoft.com/office/drawing/2014/main" val="113476818"/>
                    </a:ext>
                  </a:extLst>
                </a:gridCol>
                <a:gridCol w="1937309">
                  <a:extLst>
                    <a:ext uri="{9D8B030D-6E8A-4147-A177-3AD203B41FA5}">
                      <a16:colId xmlns:a16="http://schemas.microsoft.com/office/drawing/2014/main" val="1616798292"/>
                    </a:ext>
                  </a:extLst>
                </a:gridCol>
                <a:gridCol w="1937309">
                  <a:extLst>
                    <a:ext uri="{9D8B030D-6E8A-4147-A177-3AD203B41FA5}">
                      <a16:colId xmlns:a16="http://schemas.microsoft.com/office/drawing/2014/main" val="3555239119"/>
                    </a:ext>
                  </a:extLst>
                </a:gridCol>
                <a:gridCol w="1937309">
                  <a:extLst>
                    <a:ext uri="{9D8B030D-6E8A-4147-A177-3AD203B41FA5}">
                      <a16:colId xmlns:a16="http://schemas.microsoft.com/office/drawing/2014/main" val="2385978525"/>
                    </a:ext>
                  </a:extLst>
                </a:gridCol>
              </a:tblGrid>
              <a:tr h="1081471">
                <a:tc>
                  <a:txBody>
                    <a:bodyPr/>
                    <a:lstStyle/>
                    <a:p>
                      <a:pPr>
                        <a:lnSpc>
                          <a:spcPct val="115000"/>
                        </a:lnSpc>
                        <a:spcAft>
                          <a:spcPts val="1000"/>
                        </a:spcAft>
                        <a:buNone/>
                      </a:pPr>
                      <a:r>
                        <a:rPr lang="en-US" sz="900">
                          <a:effectLst/>
                        </a:rPr>
                        <a:t>2015</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Zhang, Yao &amp; Sun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Deep Learning Based Recommender Systems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Explores deep learning approaches for learning complex recommendation patterns.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Deep models can be powerful but may require more data and computational resources.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807340237"/>
                  </a:ext>
                </a:extLst>
              </a:tr>
              <a:tr h="1081471">
                <a:tc>
                  <a:txBody>
                    <a:bodyPr/>
                    <a:lstStyle/>
                    <a:p>
                      <a:pPr>
                        <a:lnSpc>
                          <a:spcPct val="115000"/>
                        </a:lnSpc>
                        <a:spcAft>
                          <a:spcPts val="1000"/>
                        </a:spcAft>
                        <a:buNone/>
                      </a:pPr>
                      <a:r>
                        <a:rPr lang="en-US" sz="900">
                          <a:effectLst/>
                        </a:rPr>
                        <a:t>2017</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He et al.</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Neural Collaborative Filtering</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Uses neural networks to model user-item interactions for recommendation.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Flexible modelling but more complex than traditional collaborative filtering.</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249613887"/>
                  </a:ext>
                </a:extLst>
              </a:tr>
              <a:tr h="713223">
                <a:tc>
                  <a:txBody>
                    <a:bodyPr/>
                    <a:lstStyle/>
                    <a:p>
                      <a:pPr>
                        <a:lnSpc>
                          <a:spcPct val="115000"/>
                        </a:lnSpc>
                        <a:spcAft>
                          <a:spcPts val="1000"/>
                        </a:spcAft>
                        <a:buNone/>
                      </a:pPr>
                      <a:r>
                        <a:rPr lang="en-US" sz="900">
                          <a:effectLst/>
                        </a:rPr>
                        <a:t>2016</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Covington, Adams &amp; Sargin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dirty="0">
                          <a:effectLst/>
                        </a:rPr>
                        <a:t>Deep Neural Networks for YouTube Recommendations</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Uses deep neural networks for large-scale video recommendation.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Demonstrates scalability but requires large-scale infrastructure.</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541623448"/>
                  </a:ext>
                </a:extLst>
              </a:tr>
              <a:tr h="1081471">
                <a:tc>
                  <a:txBody>
                    <a:bodyPr/>
                    <a:lstStyle/>
                    <a:p>
                      <a:pPr>
                        <a:lnSpc>
                          <a:spcPct val="115000"/>
                        </a:lnSpc>
                        <a:spcAft>
                          <a:spcPts val="1000"/>
                        </a:spcAft>
                        <a:buNone/>
                      </a:pPr>
                      <a:r>
                        <a:rPr lang="en-US" sz="900">
                          <a:effectLst/>
                        </a:rPr>
                        <a:t>2018</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Zhang, Chen et al.</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Explainable Recommendation: A Survey and New Perspectives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Reviews methods for providing explanations for recommendation results.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Highlights the importance of interpretability in recommendation systems.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063922058"/>
                  </a:ext>
                </a:extLst>
              </a:tr>
              <a:tr h="1081471">
                <a:tc>
                  <a:txBody>
                    <a:bodyPr/>
                    <a:lstStyle/>
                    <a:p>
                      <a:pPr>
                        <a:lnSpc>
                          <a:spcPct val="115000"/>
                        </a:lnSpc>
                        <a:spcAft>
                          <a:spcPts val="1000"/>
                        </a:spcAft>
                        <a:buNone/>
                      </a:pPr>
                      <a:r>
                        <a:rPr lang="en-US" sz="900">
                          <a:effectLst/>
                        </a:rPr>
                        <a:t>2019</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Zhang, Yao, Sun &amp; Tay</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Deep Learning Based Recommender System: A Survey and New Perspectives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a:effectLst/>
                        </a:rPr>
                        <a:t>Reviews deep-learning-based recommendation methods and applications.</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900" dirty="0">
                          <a:effectLst/>
                        </a:rPr>
                        <a:t>Provides broad coverage and motivates comparison with simpler approaches.</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731489996"/>
                  </a:ext>
                </a:extLst>
              </a:tr>
            </a:tbl>
          </a:graphicData>
        </a:graphic>
      </p:graphicFrame>
      <p:pic>
        <p:nvPicPr>
          <p:cNvPr id="5" name="Picture 4">
            <a:extLst>
              <a:ext uri="{FF2B5EF4-FFF2-40B4-BE49-F238E27FC236}">
                <a16:creationId xmlns:a16="http://schemas.microsoft.com/office/drawing/2014/main" id="{CE7B77CD-01AD-F329-8E5C-A4CEDA2AB876}"/>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494520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77810-D0BC-E69F-C4C4-933876B0F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4BE51-073B-6EF3-02D9-91AF06BB9786}"/>
              </a:ext>
            </a:extLst>
          </p:cNvPr>
          <p:cNvSpPr>
            <a:spLocks noGrp="1"/>
          </p:cNvSpPr>
          <p:nvPr>
            <p:ph type="title"/>
          </p:nvPr>
        </p:nvSpPr>
        <p:spPr>
          <a:xfrm>
            <a:off x="838200" y="365125"/>
            <a:ext cx="9375648" cy="723011"/>
          </a:xfrm>
        </p:spPr>
        <p:txBody>
          <a:bodyPr/>
          <a:lstStyle/>
          <a:p>
            <a:r>
              <a:rPr lang="en-US" dirty="0">
                <a:latin typeface="Century" panose="02040604050505020304" pitchFamily="18" charset="0"/>
              </a:rPr>
              <a:t>Project Workflow</a:t>
            </a:r>
            <a:endParaRPr lang="en-IN" dirty="0"/>
          </a:p>
        </p:txBody>
      </p:sp>
      <p:pic>
        <p:nvPicPr>
          <p:cNvPr id="6" name="Content Placeholder 5">
            <a:extLst>
              <a:ext uri="{FF2B5EF4-FFF2-40B4-BE49-F238E27FC236}">
                <a16:creationId xmlns:a16="http://schemas.microsoft.com/office/drawing/2014/main" id="{866769AE-64DC-3D68-161B-31A5F93AF83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847"/>
          <a:stretch>
            <a:fillRect/>
          </a:stretch>
        </p:blipFill>
        <p:spPr>
          <a:xfrm>
            <a:off x="2706624" y="1005841"/>
            <a:ext cx="6528816" cy="5382078"/>
          </a:xfrm>
          <a:prstGeom prst="rect">
            <a:avLst/>
          </a:prstGeom>
        </p:spPr>
      </p:pic>
      <p:pic>
        <p:nvPicPr>
          <p:cNvPr id="5" name="Picture 4">
            <a:extLst>
              <a:ext uri="{FF2B5EF4-FFF2-40B4-BE49-F238E27FC236}">
                <a16:creationId xmlns:a16="http://schemas.microsoft.com/office/drawing/2014/main" id="{74C8CCB3-B17D-98FD-9890-DF8607341042}"/>
              </a:ext>
            </a:extLst>
          </p:cNvPr>
          <p:cNvPicPr>
            <a:picLocks noChangeAspect="1"/>
          </p:cNvPicPr>
          <p:nvPr/>
        </p:nvPicPr>
        <p:blipFill>
          <a:blip r:embed="rId3"/>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3523117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0BA92-90F1-A0FB-C2B2-46A9BAB23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AB5F8-51E5-3128-78DE-7AAB5858F3EB}"/>
              </a:ext>
            </a:extLst>
          </p:cNvPr>
          <p:cNvSpPr>
            <a:spLocks noGrp="1"/>
          </p:cNvSpPr>
          <p:nvPr>
            <p:ph type="title"/>
          </p:nvPr>
        </p:nvSpPr>
        <p:spPr>
          <a:xfrm>
            <a:off x="838200" y="365125"/>
            <a:ext cx="7812024" cy="631571"/>
          </a:xfrm>
        </p:spPr>
        <p:txBody>
          <a:bodyPr>
            <a:normAutofit/>
          </a:bodyPr>
          <a:lstStyle/>
          <a:p>
            <a:r>
              <a:rPr lang="en-IN" dirty="0">
                <a:latin typeface="Century" panose="02040604050505020304" pitchFamily="18" charset="0"/>
              </a:rPr>
              <a:t>Research Gap</a:t>
            </a:r>
            <a:endParaRPr lang="en-IN" dirty="0"/>
          </a:p>
        </p:txBody>
      </p:sp>
      <p:sp>
        <p:nvSpPr>
          <p:cNvPr id="3" name="Content Placeholder 2">
            <a:extLst>
              <a:ext uri="{FF2B5EF4-FFF2-40B4-BE49-F238E27FC236}">
                <a16:creationId xmlns:a16="http://schemas.microsoft.com/office/drawing/2014/main" id="{35056311-691B-B6D0-AA17-CE8A9AFCF24E}"/>
              </a:ext>
            </a:extLst>
          </p:cNvPr>
          <p:cNvSpPr>
            <a:spLocks noGrp="1"/>
          </p:cNvSpPr>
          <p:nvPr>
            <p:ph idx="1"/>
          </p:nvPr>
        </p:nvSpPr>
        <p:spPr>
          <a:xfrm>
            <a:off x="838200" y="1170432"/>
            <a:ext cx="9686544" cy="5006531"/>
          </a:xfrm>
        </p:spPr>
        <p:txBody>
          <a:bodyPr>
            <a:normAutofit/>
          </a:bodyPr>
          <a:lstStyle/>
          <a:p>
            <a:pPr lvl="0"/>
            <a:r>
              <a:rPr lang="en-US" dirty="0"/>
              <a:t>Many recommendation studies focus on a single technique rather than systematically comparing multiple approaches.</a:t>
            </a:r>
            <a:endParaRPr lang="en-IN" dirty="0"/>
          </a:p>
          <a:p>
            <a:pPr lvl="0"/>
            <a:r>
              <a:rPr lang="en-US" dirty="0"/>
              <a:t>Traditional methods such as popularity-based, content-based and collaborative filtering have different strengths and limitations that need common-framework evaluation.</a:t>
            </a:r>
            <a:endParaRPr lang="en-IN" dirty="0"/>
          </a:p>
          <a:p>
            <a:pPr lvl="0"/>
            <a:r>
              <a:rPr lang="en-US" dirty="0"/>
              <a:t>Matrix factorization methods such as SVD and NMF need comparison with modern machine learning approaches.</a:t>
            </a:r>
            <a:endParaRPr lang="en-IN" dirty="0"/>
          </a:p>
          <a:p>
            <a:pPr lvl="0"/>
            <a:r>
              <a:rPr lang="en-US" dirty="0"/>
              <a:t>Machine learning models such as Random Forest, </a:t>
            </a:r>
            <a:r>
              <a:rPr lang="en-US" dirty="0" err="1"/>
              <a:t>XGBoost</a:t>
            </a:r>
            <a:r>
              <a:rPr lang="en-US" dirty="0"/>
              <a:t> and </a:t>
            </a:r>
            <a:r>
              <a:rPr lang="en-US" dirty="0" err="1"/>
              <a:t>LightGBM</a:t>
            </a:r>
            <a:r>
              <a:rPr lang="en-US" dirty="0"/>
              <a:t> can learn complex patterns, but their recommendation performance should be compared with traditional techniques.</a:t>
            </a:r>
            <a:endParaRPr lang="en-IN" dirty="0"/>
          </a:p>
          <a:p>
            <a:pPr lvl="0"/>
            <a:r>
              <a:rPr lang="en-US" dirty="0"/>
              <a:t>Recommendation performance is often evaluated using rating-prediction metrics, while Precision, Recall, F1-Score and Hit Ratio are also important.</a:t>
            </a:r>
            <a:endParaRPr lang="en-IN" dirty="0"/>
          </a:p>
          <a:p>
            <a:pPr lvl="0"/>
            <a:r>
              <a:rPr lang="en-US" dirty="0"/>
              <a:t>There is a need for a practical framework considering accuracy, recommendation quality, computational complexity and scalability together.</a:t>
            </a:r>
            <a:endParaRPr lang="en-IN" dirty="0"/>
          </a:p>
          <a:p>
            <a:pPr lvl="0"/>
            <a:r>
              <a:rPr lang="en-US" dirty="0"/>
              <a:t>Dataset characteristics can influence recommendation performance, making evaluation across benchmark datasets important.</a:t>
            </a:r>
            <a:endParaRPr lang="en-IN" dirty="0"/>
          </a:p>
          <a:p>
            <a:endParaRPr lang="en-IN" dirty="0"/>
          </a:p>
        </p:txBody>
      </p:sp>
      <p:pic>
        <p:nvPicPr>
          <p:cNvPr id="5" name="Picture 4">
            <a:extLst>
              <a:ext uri="{FF2B5EF4-FFF2-40B4-BE49-F238E27FC236}">
                <a16:creationId xmlns:a16="http://schemas.microsoft.com/office/drawing/2014/main" id="{C31C5ACE-8FBA-6383-D47E-D74B6CE190DA}"/>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2752310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20262-FC7C-3047-3C2D-FCBD0D3D3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62994-4E88-7A39-5319-C5A195A3B9D7}"/>
              </a:ext>
            </a:extLst>
          </p:cNvPr>
          <p:cNvSpPr>
            <a:spLocks noGrp="1"/>
          </p:cNvSpPr>
          <p:nvPr>
            <p:ph type="title"/>
          </p:nvPr>
        </p:nvSpPr>
        <p:spPr>
          <a:xfrm>
            <a:off x="838200" y="365125"/>
            <a:ext cx="9375648" cy="723011"/>
          </a:xfrm>
        </p:spPr>
        <p:txBody>
          <a:bodyPr/>
          <a:lstStyle/>
          <a:p>
            <a:r>
              <a:rPr lang="en-US" dirty="0">
                <a:latin typeface="Century" panose="02040604050505020304" pitchFamily="18" charset="0"/>
              </a:rPr>
              <a:t>Novelty</a:t>
            </a:r>
            <a:endParaRPr lang="en-IN" dirty="0"/>
          </a:p>
        </p:txBody>
      </p:sp>
      <p:sp>
        <p:nvSpPr>
          <p:cNvPr id="3" name="Content Placeholder 2">
            <a:extLst>
              <a:ext uri="{FF2B5EF4-FFF2-40B4-BE49-F238E27FC236}">
                <a16:creationId xmlns:a16="http://schemas.microsoft.com/office/drawing/2014/main" id="{E755CD66-765F-13A5-B329-E849E4C430C0}"/>
              </a:ext>
            </a:extLst>
          </p:cNvPr>
          <p:cNvSpPr>
            <a:spLocks noGrp="1"/>
          </p:cNvSpPr>
          <p:nvPr>
            <p:ph idx="1"/>
          </p:nvPr>
        </p:nvSpPr>
        <p:spPr>
          <a:xfrm>
            <a:off x="911352" y="1261872"/>
            <a:ext cx="9878568" cy="5043107"/>
          </a:xfrm>
        </p:spPr>
        <p:txBody>
          <a:bodyPr>
            <a:normAutofit/>
          </a:bodyPr>
          <a:lstStyle/>
          <a:p>
            <a:pPr marL="0" indent="0">
              <a:buNone/>
            </a:pPr>
            <a:r>
              <a:rPr lang="en-US" dirty="0"/>
              <a:t>The novelty of the proposed project is not the individual use of recommendation algorithms, since these techniques already exist in the literature. The proposed work focuses on their systematic comparison within a common experimental framework.</a:t>
            </a:r>
            <a:endParaRPr lang="en-IN" dirty="0"/>
          </a:p>
          <a:p>
            <a:pPr lvl="0"/>
            <a:r>
              <a:rPr lang="en-US" dirty="0"/>
              <a:t>Integration of popularity-based, content-based, collaborative filtering and matrix factorization approaches.</a:t>
            </a:r>
            <a:endParaRPr lang="en-IN" dirty="0"/>
          </a:p>
          <a:p>
            <a:pPr lvl="0"/>
            <a:r>
              <a:rPr lang="en-US" dirty="0"/>
              <a:t>Comparison of traditional recommendation techniques with supervised machine learning models.</a:t>
            </a:r>
            <a:endParaRPr lang="en-IN" dirty="0"/>
          </a:p>
          <a:p>
            <a:pPr lvl="0"/>
            <a:r>
              <a:rPr lang="en-US" dirty="0"/>
              <a:t>Evaluation using both rating-prediction metrics and recommendation-quality metrics.</a:t>
            </a:r>
            <a:endParaRPr lang="en-IN" dirty="0"/>
          </a:p>
          <a:p>
            <a:pPr lvl="0"/>
            <a:r>
              <a:rPr lang="en-US" dirty="0"/>
              <a:t>Use of multiple benchmark datasets representing different recommendation domains.</a:t>
            </a:r>
            <a:endParaRPr lang="en-IN" dirty="0"/>
          </a:p>
          <a:p>
            <a:pPr lvl="0"/>
            <a:r>
              <a:rPr lang="en-US" dirty="0"/>
              <a:t>Analysis of trade-offs between accuracy, recommendation quality, computational complexity and scalability.</a:t>
            </a:r>
            <a:endParaRPr lang="en-IN" dirty="0"/>
          </a:p>
          <a:p>
            <a:pPr lvl="0"/>
            <a:r>
              <a:rPr lang="en-US" dirty="0"/>
              <a:t>Development of a unified pipeline for preprocessing, modelling, evaluation and comparative analysis.</a:t>
            </a:r>
            <a:endParaRPr lang="en-IN" dirty="0"/>
          </a:p>
          <a:p>
            <a:endParaRPr lang="en-IN" dirty="0"/>
          </a:p>
        </p:txBody>
      </p:sp>
      <p:pic>
        <p:nvPicPr>
          <p:cNvPr id="5" name="Picture 4">
            <a:extLst>
              <a:ext uri="{FF2B5EF4-FFF2-40B4-BE49-F238E27FC236}">
                <a16:creationId xmlns:a16="http://schemas.microsoft.com/office/drawing/2014/main" id="{E9E752B9-751C-B636-3FF4-66CD22CC07E1}"/>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272825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D243E-51A6-5D1D-EECB-9F853367D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4C308-746C-036A-1621-87B073859AF9}"/>
              </a:ext>
            </a:extLst>
          </p:cNvPr>
          <p:cNvSpPr>
            <a:spLocks noGrp="1"/>
          </p:cNvSpPr>
          <p:nvPr>
            <p:ph type="title"/>
          </p:nvPr>
        </p:nvSpPr>
        <p:spPr>
          <a:xfrm>
            <a:off x="838200" y="365125"/>
            <a:ext cx="9375648" cy="723011"/>
          </a:xfrm>
        </p:spPr>
        <p:txBody>
          <a:bodyPr/>
          <a:lstStyle/>
          <a:p>
            <a:r>
              <a:rPr lang="en-IN" dirty="0">
                <a:latin typeface="Century" panose="02040604050505020304" pitchFamily="18" charset="0"/>
              </a:rPr>
              <a:t>Innovation</a:t>
            </a:r>
            <a:endParaRPr lang="en-IN" dirty="0"/>
          </a:p>
        </p:txBody>
      </p:sp>
      <p:sp>
        <p:nvSpPr>
          <p:cNvPr id="3" name="Content Placeholder 2">
            <a:extLst>
              <a:ext uri="{FF2B5EF4-FFF2-40B4-BE49-F238E27FC236}">
                <a16:creationId xmlns:a16="http://schemas.microsoft.com/office/drawing/2014/main" id="{9063A9DA-557C-F0FF-FF98-9FEA905ACC28}"/>
              </a:ext>
            </a:extLst>
          </p:cNvPr>
          <p:cNvSpPr>
            <a:spLocks noGrp="1"/>
          </p:cNvSpPr>
          <p:nvPr>
            <p:ph idx="1"/>
          </p:nvPr>
        </p:nvSpPr>
        <p:spPr>
          <a:xfrm>
            <a:off x="1620012" y="1020952"/>
            <a:ext cx="8987028" cy="5132959"/>
          </a:xfrm>
        </p:spPr>
        <p:txBody>
          <a:bodyPr>
            <a:normAutofit fontScale="40000" lnSpcReduction="20000"/>
          </a:bodyPr>
          <a:lstStyle/>
          <a:p>
            <a:pPr marL="0" indent="0" algn="ctr">
              <a:buNone/>
            </a:pPr>
            <a:r>
              <a:rPr lang="en-US" sz="4800" dirty="0"/>
              <a:t>Feature Engineering&amp;</a:t>
            </a:r>
            <a:endParaRPr lang="en-IN" sz="4800" dirty="0"/>
          </a:p>
          <a:p>
            <a:pPr marL="0" indent="0" algn="ctr">
              <a:buNone/>
            </a:pPr>
            <a:r>
              <a:rPr lang="en-US" sz="4800" dirty="0"/>
              <a:t>Feature Selection</a:t>
            </a:r>
            <a:endParaRPr lang="en-IN" sz="4800" dirty="0"/>
          </a:p>
          <a:p>
            <a:pPr marL="0" indent="0" algn="ctr">
              <a:buNone/>
            </a:pPr>
            <a:r>
              <a:rPr lang="en-US" sz="4800" dirty="0"/>
              <a:t>↓</a:t>
            </a:r>
            <a:endParaRPr lang="en-IN" sz="4800" dirty="0"/>
          </a:p>
          <a:p>
            <a:pPr marL="0" indent="0" algn="ctr">
              <a:buNone/>
            </a:pPr>
            <a:r>
              <a:rPr lang="en-US" sz="4800" dirty="0"/>
              <a:t>Train-Test Split</a:t>
            </a:r>
            <a:endParaRPr lang="en-IN" sz="4800" dirty="0"/>
          </a:p>
          <a:p>
            <a:pPr marL="0" indent="0" algn="ctr">
              <a:buNone/>
            </a:pPr>
            <a:r>
              <a:rPr lang="en-US" sz="4800" dirty="0"/>
              <a:t>↓</a:t>
            </a:r>
            <a:endParaRPr lang="en-IN" sz="4800" dirty="0"/>
          </a:p>
          <a:p>
            <a:pPr marL="0" indent="0" algn="ctr">
              <a:buNone/>
            </a:pPr>
            <a:r>
              <a:rPr lang="en-US" sz="4800" dirty="0"/>
              <a:t>Recommendation Models</a:t>
            </a:r>
            <a:endParaRPr lang="en-IN" sz="4800" dirty="0"/>
          </a:p>
          <a:p>
            <a:pPr marL="0" indent="0" algn="ctr">
              <a:buNone/>
            </a:pPr>
            <a:r>
              <a:rPr lang="en-US" sz="4800" dirty="0"/>
              <a:t>↓</a:t>
            </a:r>
            <a:endParaRPr lang="en-IN" sz="4800" dirty="0"/>
          </a:p>
          <a:p>
            <a:pPr marL="0" indent="0" algn="ctr">
              <a:buNone/>
            </a:pPr>
            <a:r>
              <a:rPr lang="en-US" sz="4800" dirty="0"/>
              <a:t>Performance Evaluation</a:t>
            </a:r>
            <a:endParaRPr lang="en-IN" sz="4800" dirty="0"/>
          </a:p>
          <a:p>
            <a:pPr marL="0" indent="0" algn="ctr">
              <a:buNone/>
            </a:pPr>
            <a:r>
              <a:rPr lang="en-US" sz="4800" dirty="0"/>
              <a:t>↓</a:t>
            </a:r>
            <a:endParaRPr lang="en-IN" sz="4800" dirty="0"/>
          </a:p>
          <a:p>
            <a:pPr marL="0" indent="0" algn="ctr">
              <a:buNone/>
            </a:pPr>
            <a:r>
              <a:rPr lang="en-US" sz="4800" dirty="0"/>
              <a:t>Comparative Analysis</a:t>
            </a:r>
            <a:endParaRPr lang="en-IN" sz="4800" dirty="0"/>
          </a:p>
          <a:p>
            <a:pPr marL="0" indent="0" algn="ctr">
              <a:buNone/>
            </a:pPr>
            <a:r>
              <a:rPr lang="en-US" sz="4800" dirty="0"/>
              <a:t>↓</a:t>
            </a:r>
            <a:endParaRPr lang="en-IN" sz="4800" dirty="0"/>
          </a:p>
          <a:p>
            <a:pPr marL="0" indent="0" algn="ctr">
              <a:buNone/>
            </a:pPr>
            <a:r>
              <a:rPr lang="en-US" sz="4800" dirty="0"/>
              <a:t>Research Conclusions</a:t>
            </a:r>
            <a:endParaRPr lang="en-IN" sz="4800" dirty="0"/>
          </a:p>
          <a:p>
            <a:endParaRPr lang="en-IN" dirty="0"/>
          </a:p>
        </p:txBody>
      </p:sp>
      <p:pic>
        <p:nvPicPr>
          <p:cNvPr id="5" name="Picture 4">
            <a:extLst>
              <a:ext uri="{FF2B5EF4-FFF2-40B4-BE49-F238E27FC236}">
                <a16:creationId xmlns:a16="http://schemas.microsoft.com/office/drawing/2014/main" id="{4879EBF1-D0CE-9017-089C-56B477CF3C4E}"/>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3894202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5C19-2BDC-21BA-79C2-F9DC05555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0D751-3955-04ED-CCA1-B09ACD9929EB}"/>
              </a:ext>
            </a:extLst>
          </p:cNvPr>
          <p:cNvSpPr>
            <a:spLocks noGrp="1"/>
          </p:cNvSpPr>
          <p:nvPr>
            <p:ph type="title"/>
          </p:nvPr>
        </p:nvSpPr>
        <p:spPr>
          <a:xfrm>
            <a:off x="838200" y="365125"/>
            <a:ext cx="9375648" cy="530987"/>
          </a:xfrm>
        </p:spPr>
        <p:txBody>
          <a:bodyPr>
            <a:normAutofit/>
          </a:bodyPr>
          <a:lstStyle/>
          <a:p>
            <a:r>
              <a:rPr lang="en-IN" dirty="0">
                <a:latin typeface="Century" panose="02040604050505020304" pitchFamily="18" charset="0"/>
              </a:rPr>
              <a:t>Feasibility</a:t>
            </a:r>
            <a:endParaRPr lang="en-IN" dirty="0"/>
          </a:p>
        </p:txBody>
      </p:sp>
      <p:sp>
        <p:nvSpPr>
          <p:cNvPr id="3" name="Content Placeholder 2">
            <a:extLst>
              <a:ext uri="{FF2B5EF4-FFF2-40B4-BE49-F238E27FC236}">
                <a16:creationId xmlns:a16="http://schemas.microsoft.com/office/drawing/2014/main" id="{1BB9B2C5-94F5-05B0-A118-6E9ACAC08A90}"/>
              </a:ext>
            </a:extLst>
          </p:cNvPr>
          <p:cNvSpPr>
            <a:spLocks noGrp="1"/>
          </p:cNvSpPr>
          <p:nvPr>
            <p:ph idx="1"/>
          </p:nvPr>
        </p:nvSpPr>
        <p:spPr>
          <a:xfrm>
            <a:off x="523152" y="1331848"/>
            <a:ext cx="10162032" cy="4684903"/>
          </a:xfrm>
        </p:spPr>
        <p:txBody>
          <a:bodyPr>
            <a:normAutofit/>
          </a:bodyPr>
          <a:lstStyle/>
          <a:p>
            <a:r>
              <a:rPr lang="en-US" b="1" dirty="0"/>
              <a:t>Technical Feasibility</a:t>
            </a:r>
            <a:endParaRPr lang="en-IN" dirty="0"/>
          </a:p>
          <a:p>
            <a:pPr marL="0" indent="0">
              <a:buNone/>
            </a:pPr>
            <a:r>
              <a:rPr lang="en-US" dirty="0"/>
              <a:t>The proposed recommendation system can be implemented using Python and open-source libraries such as Pandas, NumPy, Scikit-learn and suitable recommendation-system libraries. The selected benchmark datasets are publicly available.</a:t>
            </a:r>
            <a:endParaRPr lang="en-IN" dirty="0"/>
          </a:p>
          <a:p>
            <a:r>
              <a:rPr lang="en-US" b="1" dirty="0"/>
              <a:t>Economic Feasibility</a:t>
            </a:r>
            <a:endParaRPr lang="en-IN" dirty="0"/>
          </a:p>
          <a:p>
            <a:pPr marL="0" indent="0">
              <a:buNone/>
            </a:pPr>
            <a:r>
              <a:rPr lang="en-US" dirty="0"/>
              <a:t>The project does not require specialized paid software or hardware. Open-source programming tools and publicly available datasets can be used.</a:t>
            </a:r>
            <a:endParaRPr lang="en-IN" dirty="0"/>
          </a:p>
          <a:p>
            <a:r>
              <a:rPr lang="en-US" b="1" dirty="0"/>
              <a:t>Operational Feasibility</a:t>
            </a:r>
            <a:endParaRPr lang="en-IN" dirty="0"/>
          </a:p>
          <a:p>
            <a:pPr marL="0" indent="0">
              <a:buNone/>
            </a:pPr>
            <a:r>
              <a:rPr lang="en-US" dirty="0"/>
              <a:t>The workflow is suitable for an academic project and can be implemented on a standard computer. Individual recommendation models can be developed progressively and evaluated within the planned project duration.</a:t>
            </a:r>
            <a:endParaRPr lang="en-IN" dirty="0"/>
          </a:p>
          <a:p>
            <a:endParaRPr lang="en-IN" dirty="0"/>
          </a:p>
        </p:txBody>
      </p:sp>
      <p:pic>
        <p:nvPicPr>
          <p:cNvPr id="5" name="Picture 4">
            <a:extLst>
              <a:ext uri="{FF2B5EF4-FFF2-40B4-BE49-F238E27FC236}">
                <a16:creationId xmlns:a16="http://schemas.microsoft.com/office/drawing/2014/main" id="{EE5F8739-6463-C05D-FE0E-30B7C6845B55}"/>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1043607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4B75A-0EBE-203A-BA4F-993E25A63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914D5-9B32-0EE4-29CD-CD5E356E4232}"/>
              </a:ext>
            </a:extLst>
          </p:cNvPr>
          <p:cNvSpPr>
            <a:spLocks noGrp="1"/>
          </p:cNvSpPr>
          <p:nvPr>
            <p:ph type="title"/>
          </p:nvPr>
        </p:nvSpPr>
        <p:spPr>
          <a:xfrm>
            <a:off x="838200" y="365125"/>
            <a:ext cx="9375648" cy="466979"/>
          </a:xfrm>
        </p:spPr>
        <p:txBody>
          <a:bodyPr>
            <a:normAutofit fontScale="90000"/>
          </a:bodyPr>
          <a:lstStyle/>
          <a:p>
            <a:r>
              <a:rPr lang="en-IN" dirty="0">
                <a:latin typeface="Century" panose="02040604050505020304" pitchFamily="18" charset="0"/>
              </a:rPr>
              <a:t>Project Plan</a:t>
            </a:r>
            <a:endParaRPr lang="en-IN" dirty="0"/>
          </a:p>
        </p:txBody>
      </p:sp>
      <p:graphicFrame>
        <p:nvGraphicFramePr>
          <p:cNvPr id="4" name="Content Placeholder 3">
            <a:extLst>
              <a:ext uri="{FF2B5EF4-FFF2-40B4-BE49-F238E27FC236}">
                <a16:creationId xmlns:a16="http://schemas.microsoft.com/office/drawing/2014/main" id="{3B46F4C0-D1CE-3212-4D42-30AECA12211B}"/>
              </a:ext>
            </a:extLst>
          </p:cNvPr>
          <p:cNvGraphicFramePr>
            <a:graphicFrameLocks noGrp="1"/>
          </p:cNvGraphicFramePr>
          <p:nvPr>
            <p:ph idx="1"/>
            <p:extLst>
              <p:ext uri="{D42A27DB-BD31-4B8C-83A1-F6EECF244321}">
                <p14:modId xmlns:p14="http://schemas.microsoft.com/office/powerpoint/2010/main" val="2905857348"/>
              </p:ext>
            </p:extLst>
          </p:nvPr>
        </p:nvGraphicFramePr>
        <p:xfrm>
          <a:off x="838200" y="1079030"/>
          <a:ext cx="10020720" cy="4992585"/>
        </p:xfrm>
        <a:graphic>
          <a:graphicData uri="http://schemas.openxmlformats.org/drawingml/2006/table">
            <a:tbl>
              <a:tblPr/>
              <a:tblGrid>
                <a:gridCol w="3340240">
                  <a:extLst>
                    <a:ext uri="{9D8B030D-6E8A-4147-A177-3AD203B41FA5}">
                      <a16:colId xmlns:a16="http://schemas.microsoft.com/office/drawing/2014/main" val="3291949934"/>
                    </a:ext>
                  </a:extLst>
                </a:gridCol>
                <a:gridCol w="3340240">
                  <a:extLst>
                    <a:ext uri="{9D8B030D-6E8A-4147-A177-3AD203B41FA5}">
                      <a16:colId xmlns:a16="http://schemas.microsoft.com/office/drawing/2014/main" val="2479527340"/>
                    </a:ext>
                  </a:extLst>
                </a:gridCol>
                <a:gridCol w="3340240">
                  <a:extLst>
                    <a:ext uri="{9D8B030D-6E8A-4147-A177-3AD203B41FA5}">
                      <a16:colId xmlns:a16="http://schemas.microsoft.com/office/drawing/2014/main" val="3806670218"/>
                    </a:ext>
                  </a:extLst>
                </a:gridCol>
              </a:tblGrid>
              <a:tr h="424901">
                <a:tc>
                  <a:txBody>
                    <a:bodyPr/>
                    <a:lstStyle/>
                    <a:p>
                      <a:pPr>
                        <a:buNone/>
                      </a:pPr>
                      <a:r>
                        <a:rPr lang="en-IN" sz="1300" b="1"/>
                        <a:t>Phase</a:t>
                      </a:r>
                      <a:endParaRPr lang="en-IN" sz="1300"/>
                    </a:p>
                  </a:txBody>
                  <a:tcPr marL="67931" marR="67931" marT="33966" marB="33966" anchor="ctr">
                    <a:lnL>
                      <a:noFill/>
                    </a:lnL>
                    <a:lnR>
                      <a:noFill/>
                    </a:lnR>
                    <a:lnT>
                      <a:noFill/>
                    </a:lnT>
                    <a:lnB>
                      <a:noFill/>
                    </a:lnB>
                    <a:noFill/>
                  </a:tcPr>
                </a:tc>
                <a:tc>
                  <a:txBody>
                    <a:bodyPr/>
                    <a:lstStyle/>
                    <a:p>
                      <a:pPr>
                        <a:buNone/>
                      </a:pPr>
                      <a:r>
                        <a:rPr lang="en-IN" sz="1300" b="1"/>
                        <a:t>Weeks</a:t>
                      </a:r>
                      <a:endParaRPr lang="en-IN" sz="1300"/>
                    </a:p>
                  </a:txBody>
                  <a:tcPr marL="67931" marR="67931" marT="33966" marB="33966" anchor="ctr">
                    <a:lnL>
                      <a:noFill/>
                    </a:lnL>
                    <a:lnR>
                      <a:noFill/>
                    </a:lnR>
                    <a:lnT>
                      <a:noFill/>
                    </a:lnT>
                    <a:lnB>
                      <a:noFill/>
                    </a:lnB>
                    <a:noFill/>
                  </a:tcPr>
                </a:tc>
                <a:tc>
                  <a:txBody>
                    <a:bodyPr/>
                    <a:lstStyle/>
                    <a:p>
                      <a:pPr>
                        <a:buNone/>
                      </a:pPr>
                      <a:r>
                        <a:rPr lang="en-IN" sz="1300" b="1"/>
                        <a:t>Planned Activity</a:t>
                      </a:r>
                      <a:endParaRPr lang="en-IN" sz="1300"/>
                    </a:p>
                  </a:txBody>
                  <a:tcPr marL="67931" marR="67931" marT="33966" marB="33966" anchor="ctr">
                    <a:lnL>
                      <a:noFill/>
                    </a:lnL>
                    <a:lnR>
                      <a:noFill/>
                    </a:lnR>
                    <a:lnT>
                      <a:noFill/>
                    </a:lnT>
                    <a:lnB>
                      <a:noFill/>
                    </a:lnB>
                    <a:noFill/>
                  </a:tcPr>
                </a:tc>
                <a:extLst>
                  <a:ext uri="{0D108BD9-81ED-4DB2-BD59-A6C34878D82A}">
                    <a16:rowId xmlns:a16="http://schemas.microsoft.com/office/drawing/2014/main" val="2425483079"/>
                  </a:ext>
                </a:extLst>
              </a:tr>
              <a:tr h="1062252">
                <a:tc>
                  <a:txBody>
                    <a:bodyPr/>
                    <a:lstStyle/>
                    <a:p>
                      <a:pPr>
                        <a:buNone/>
                      </a:pPr>
                      <a:r>
                        <a:rPr lang="en-IN" sz="1300" b="1"/>
                        <a:t>Phase 1 – Research &amp; Data Collection</a:t>
                      </a:r>
                      <a:endParaRPr lang="en-IN" sz="1300"/>
                    </a:p>
                  </a:txBody>
                  <a:tcPr marL="67931" marR="67931" marT="33966" marB="33966" anchor="ctr">
                    <a:lnL>
                      <a:noFill/>
                    </a:lnL>
                    <a:lnR>
                      <a:noFill/>
                    </a:lnR>
                    <a:lnT>
                      <a:noFill/>
                    </a:lnT>
                    <a:lnB>
                      <a:noFill/>
                    </a:lnB>
                    <a:noFill/>
                  </a:tcPr>
                </a:tc>
                <a:tc>
                  <a:txBody>
                    <a:bodyPr/>
                    <a:lstStyle/>
                    <a:p>
                      <a:pPr>
                        <a:buNone/>
                      </a:pPr>
                      <a:r>
                        <a:rPr lang="en-IN" sz="1300" dirty="0"/>
                        <a:t>Week 1–2</a:t>
                      </a:r>
                    </a:p>
                  </a:txBody>
                  <a:tcPr marL="67931" marR="67931" marT="33966" marB="33966" anchor="ctr">
                    <a:lnL>
                      <a:noFill/>
                    </a:lnL>
                    <a:lnR>
                      <a:noFill/>
                    </a:lnR>
                    <a:lnT>
                      <a:noFill/>
                    </a:lnT>
                    <a:lnB>
                      <a:noFill/>
                    </a:lnB>
                    <a:noFill/>
                  </a:tcPr>
                </a:tc>
                <a:tc>
                  <a:txBody>
                    <a:bodyPr/>
                    <a:lstStyle/>
                    <a:p>
                      <a:pPr>
                        <a:buNone/>
                      </a:pPr>
                      <a:r>
                        <a:rPr lang="en-IN" sz="1300"/>
                        <a:t>Literature survey, define objectives and research gaps, and collect datasets.</a:t>
                      </a:r>
                    </a:p>
                  </a:txBody>
                  <a:tcPr marL="67931" marR="67931" marT="33966" marB="33966" anchor="ctr">
                    <a:lnL>
                      <a:noFill/>
                    </a:lnL>
                    <a:lnR>
                      <a:noFill/>
                    </a:lnR>
                    <a:lnT>
                      <a:noFill/>
                    </a:lnT>
                    <a:lnB>
                      <a:noFill/>
                    </a:lnB>
                    <a:noFill/>
                  </a:tcPr>
                </a:tc>
                <a:extLst>
                  <a:ext uri="{0D108BD9-81ED-4DB2-BD59-A6C34878D82A}">
                    <a16:rowId xmlns:a16="http://schemas.microsoft.com/office/drawing/2014/main" val="911363468"/>
                  </a:ext>
                </a:extLst>
              </a:tr>
              <a:tr h="1062252">
                <a:tc>
                  <a:txBody>
                    <a:bodyPr/>
                    <a:lstStyle/>
                    <a:p>
                      <a:pPr>
                        <a:buNone/>
                      </a:pPr>
                      <a:r>
                        <a:rPr lang="en-IN" sz="1300" b="1"/>
                        <a:t>Phase 2 – Data Preparation &amp; Analysis</a:t>
                      </a:r>
                      <a:endParaRPr lang="en-IN" sz="1300"/>
                    </a:p>
                  </a:txBody>
                  <a:tcPr marL="67931" marR="67931" marT="33966" marB="33966" anchor="ctr">
                    <a:lnL>
                      <a:noFill/>
                    </a:lnL>
                    <a:lnR>
                      <a:noFill/>
                    </a:lnR>
                    <a:lnT>
                      <a:noFill/>
                    </a:lnT>
                    <a:lnB>
                      <a:noFill/>
                    </a:lnB>
                    <a:noFill/>
                  </a:tcPr>
                </a:tc>
                <a:tc>
                  <a:txBody>
                    <a:bodyPr/>
                    <a:lstStyle/>
                    <a:p>
                      <a:pPr>
                        <a:buNone/>
                      </a:pPr>
                      <a:r>
                        <a:rPr lang="en-IN" sz="1300"/>
                        <a:t>Week 3–4</a:t>
                      </a:r>
                    </a:p>
                  </a:txBody>
                  <a:tcPr marL="67931" marR="67931" marT="33966" marB="33966" anchor="ctr">
                    <a:lnL>
                      <a:noFill/>
                    </a:lnL>
                    <a:lnR>
                      <a:noFill/>
                    </a:lnR>
                    <a:lnT>
                      <a:noFill/>
                    </a:lnT>
                    <a:lnB>
                      <a:noFill/>
                    </a:lnB>
                    <a:noFill/>
                  </a:tcPr>
                </a:tc>
                <a:tc>
                  <a:txBody>
                    <a:bodyPr/>
                    <a:lstStyle/>
                    <a:p>
                      <a:pPr>
                        <a:buNone/>
                      </a:pPr>
                      <a:r>
                        <a:rPr lang="en-IN" sz="1300"/>
                        <a:t>Data cleaning, preprocessing, EDA, feature engineering, and feature selection.</a:t>
                      </a:r>
                    </a:p>
                  </a:txBody>
                  <a:tcPr marL="67931" marR="67931" marT="33966" marB="33966" anchor="ctr">
                    <a:lnL>
                      <a:noFill/>
                    </a:lnL>
                    <a:lnR>
                      <a:noFill/>
                    </a:lnR>
                    <a:lnT>
                      <a:noFill/>
                    </a:lnT>
                    <a:lnB>
                      <a:noFill/>
                    </a:lnB>
                    <a:noFill/>
                  </a:tcPr>
                </a:tc>
                <a:extLst>
                  <a:ext uri="{0D108BD9-81ED-4DB2-BD59-A6C34878D82A}">
                    <a16:rowId xmlns:a16="http://schemas.microsoft.com/office/drawing/2014/main" val="1784264123"/>
                  </a:ext>
                </a:extLst>
              </a:tr>
              <a:tr h="1380928">
                <a:tc>
                  <a:txBody>
                    <a:bodyPr/>
                    <a:lstStyle/>
                    <a:p>
                      <a:pPr>
                        <a:buNone/>
                      </a:pPr>
                      <a:r>
                        <a:rPr lang="en-IN" sz="1300" b="1"/>
                        <a:t>Phase 3 – Model Development</a:t>
                      </a:r>
                      <a:endParaRPr lang="en-IN" sz="1300"/>
                    </a:p>
                  </a:txBody>
                  <a:tcPr marL="67931" marR="67931" marT="33966" marB="33966" anchor="ctr">
                    <a:lnL>
                      <a:noFill/>
                    </a:lnL>
                    <a:lnR>
                      <a:noFill/>
                    </a:lnR>
                    <a:lnT>
                      <a:noFill/>
                    </a:lnT>
                    <a:lnB>
                      <a:noFill/>
                    </a:lnB>
                    <a:noFill/>
                  </a:tcPr>
                </a:tc>
                <a:tc>
                  <a:txBody>
                    <a:bodyPr/>
                    <a:lstStyle/>
                    <a:p>
                      <a:pPr>
                        <a:buNone/>
                      </a:pPr>
                      <a:r>
                        <a:rPr lang="en-IN" sz="1300"/>
                        <a:t>Week 5–7</a:t>
                      </a:r>
                    </a:p>
                  </a:txBody>
                  <a:tcPr marL="67931" marR="67931" marT="33966" marB="33966" anchor="ctr">
                    <a:lnL>
                      <a:noFill/>
                    </a:lnL>
                    <a:lnR>
                      <a:noFill/>
                    </a:lnR>
                    <a:lnT>
                      <a:noFill/>
                    </a:lnT>
                    <a:lnB>
                      <a:noFill/>
                    </a:lnB>
                    <a:noFill/>
                  </a:tcPr>
                </a:tc>
                <a:tc>
                  <a:txBody>
                    <a:bodyPr/>
                    <a:lstStyle/>
                    <a:p>
                      <a:pPr>
                        <a:buNone/>
                      </a:pPr>
                      <a:r>
                        <a:rPr lang="en-IN" sz="1300"/>
                        <a:t>Implement Popularity-Based, Content-Based, Collaborative Filtering, SVD, NMF, and ML models.</a:t>
                      </a:r>
                    </a:p>
                  </a:txBody>
                  <a:tcPr marL="67931" marR="67931" marT="33966" marB="33966" anchor="ctr">
                    <a:lnL>
                      <a:noFill/>
                    </a:lnL>
                    <a:lnR>
                      <a:noFill/>
                    </a:lnR>
                    <a:lnT>
                      <a:noFill/>
                    </a:lnT>
                    <a:lnB>
                      <a:noFill/>
                    </a:lnB>
                    <a:noFill/>
                  </a:tcPr>
                </a:tc>
                <a:extLst>
                  <a:ext uri="{0D108BD9-81ED-4DB2-BD59-A6C34878D82A}">
                    <a16:rowId xmlns:a16="http://schemas.microsoft.com/office/drawing/2014/main" val="3223009524"/>
                  </a:ext>
                </a:extLst>
              </a:tr>
              <a:tr h="1062252">
                <a:tc>
                  <a:txBody>
                    <a:bodyPr/>
                    <a:lstStyle/>
                    <a:p>
                      <a:pPr>
                        <a:buNone/>
                      </a:pPr>
                      <a:r>
                        <a:rPr lang="en-IN" sz="1300" b="1"/>
                        <a:t>Phase 4 – Evaluation &amp; Documentation</a:t>
                      </a:r>
                      <a:endParaRPr lang="en-IN" sz="1300"/>
                    </a:p>
                  </a:txBody>
                  <a:tcPr marL="67931" marR="67931" marT="33966" marB="33966" anchor="ctr">
                    <a:lnL>
                      <a:noFill/>
                    </a:lnL>
                    <a:lnR>
                      <a:noFill/>
                    </a:lnR>
                    <a:lnT>
                      <a:noFill/>
                    </a:lnT>
                    <a:lnB>
                      <a:noFill/>
                    </a:lnB>
                    <a:noFill/>
                  </a:tcPr>
                </a:tc>
                <a:tc>
                  <a:txBody>
                    <a:bodyPr/>
                    <a:lstStyle/>
                    <a:p>
                      <a:pPr>
                        <a:buNone/>
                      </a:pPr>
                      <a:r>
                        <a:rPr lang="en-IN" sz="1300"/>
                        <a:t>Week 8</a:t>
                      </a:r>
                    </a:p>
                  </a:txBody>
                  <a:tcPr marL="67931" marR="67931" marT="33966" marB="33966" anchor="ctr">
                    <a:lnL>
                      <a:noFill/>
                    </a:lnL>
                    <a:lnR>
                      <a:noFill/>
                    </a:lnR>
                    <a:lnT>
                      <a:noFill/>
                    </a:lnT>
                    <a:lnB>
                      <a:noFill/>
                    </a:lnB>
                    <a:noFill/>
                  </a:tcPr>
                </a:tc>
                <a:tc>
                  <a:txBody>
                    <a:bodyPr/>
                    <a:lstStyle/>
                    <a:p>
                      <a:pPr>
                        <a:buNone/>
                      </a:pPr>
                      <a:r>
                        <a:rPr lang="en-IN" sz="1300" dirty="0"/>
                        <a:t>Evaluate and compare models, visualize results, prepare documentation, and presentation.</a:t>
                      </a:r>
                    </a:p>
                  </a:txBody>
                  <a:tcPr marL="67931" marR="67931" marT="33966" marB="33966" anchor="ctr">
                    <a:lnL>
                      <a:noFill/>
                    </a:lnL>
                    <a:lnR>
                      <a:noFill/>
                    </a:lnR>
                    <a:lnT>
                      <a:noFill/>
                    </a:lnT>
                    <a:lnB>
                      <a:noFill/>
                    </a:lnB>
                    <a:noFill/>
                  </a:tcPr>
                </a:tc>
                <a:extLst>
                  <a:ext uri="{0D108BD9-81ED-4DB2-BD59-A6C34878D82A}">
                    <a16:rowId xmlns:a16="http://schemas.microsoft.com/office/drawing/2014/main" val="88226367"/>
                  </a:ext>
                </a:extLst>
              </a:tr>
            </a:tbl>
          </a:graphicData>
        </a:graphic>
      </p:graphicFrame>
      <p:pic>
        <p:nvPicPr>
          <p:cNvPr id="5" name="Picture 4">
            <a:extLst>
              <a:ext uri="{FF2B5EF4-FFF2-40B4-BE49-F238E27FC236}">
                <a16:creationId xmlns:a16="http://schemas.microsoft.com/office/drawing/2014/main" id="{C408A40B-CDA9-A9EB-896D-ADE2ECECBF50}"/>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180286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22B5-BE23-75DA-6891-75A207EAA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FAAD9-BAAC-9F92-C366-CB19E375CF1F}"/>
              </a:ext>
            </a:extLst>
          </p:cNvPr>
          <p:cNvSpPr>
            <a:spLocks noGrp="1"/>
          </p:cNvSpPr>
          <p:nvPr>
            <p:ph type="title"/>
          </p:nvPr>
        </p:nvSpPr>
        <p:spPr>
          <a:xfrm>
            <a:off x="957072" y="1423329"/>
            <a:ext cx="5489448" cy="723011"/>
          </a:xfrm>
        </p:spPr>
        <p:txBody>
          <a:bodyPr>
            <a:normAutofit/>
          </a:bodyPr>
          <a:lstStyle/>
          <a:p>
            <a:r>
              <a:rPr lang="en-US" sz="3600" dirty="0">
                <a:latin typeface="Century" panose="02040604050505020304" pitchFamily="18" charset="0"/>
              </a:rPr>
              <a:t>Thank you </a:t>
            </a:r>
            <a:endParaRPr lang="en-IN" sz="3600" dirty="0"/>
          </a:p>
        </p:txBody>
      </p:sp>
      <p:pic>
        <p:nvPicPr>
          <p:cNvPr id="5" name="Picture 4">
            <a:extLst>
              <a:ext uri="{FF2B5EF4-FFF2-40B4-BE49-F238E27FC236}">
                <a16:creationId xmlns:a16="http://schemas.microsoft.com/office/drawing/2014/main" id="{5CFF03E6-6CCB-6999-0DE3-3A6DA81E88AA}"/>
              </a:ext>
            </a:extLst>
          </p:cNvPr>
          <p:cNvPicPr>
            <a:picLocks noChangeAspect="1"/>
          </p:cNvPicPr>
          <p:nvPr/>
        </p:nvPicPr>
        <p:blipFill>
          <a:blip r:embed="rId2"/>
          <a:stretch>
            <a:fillRect/>
          </a:stretch>
        </p:blipFill>
        <p:spPr>
          <a:xfrm>
            <a:off x="10858920" y="167444"/>
            <a:ext cx="1249788" cy="1255885"/>
          </a:xfrm>
          <a:prstGeom prst="rect">
            <a:avLst/>
          </a:prstGeom>
        </p:spPr>
      </p:pic>
    </p:spTree>
    <p:extLst>
      <p:ext uri="{BB962C8B-B14F-4D97-AF65-F5344CB8AC3E}">
        <p14:creationId xmlns:p14="http://schemas.microsoft.com/office/powerpoint/2010/main" val="960179835"/>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docProps/app.xml><?xml version="1.0" encoding="utf-8"?>
<Properties xmlns="http://schemas.openxmlformats.org/officeDocument/2006/extended-properties" xmlns:vt="http://schemas.openxmlformats.org/officeDocument/2006/docPropsVTypes">
  <Template/>
  <TotalTime>26</TotalTime>
  <Words>1135</Words>
  <Application>Microsoft Office PowerPoint</Application>
  <PresentationFormat>Widescreen</PresentationFormat>
  <Paragraphs>153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vt:lpstr>
      <vt:lpstr>Neue Haas Grotesk Text Pro</vt:lpstr>
      <vt:lpstr>Times New Roman</vt:lpstr>
      <vt:lpstr>Helena</vt:lpstr>
      <vt:lpstr>Data Analytics and Visualization (24DSB3101)    Comparative Study of Recommendation Systems Using Machine Learning</vt:lpstr>
      <vt:lpstr>Contents</vt:lpstr>
      <vt:lpstr>Introduction</vt:lpstr>
      <vt:lpstr>Problem Statement</vt:lpstr>
      <vt:lpstr>Objectives</vt:lpstr>
      <vt:lpstr>Literature Survey</vt:lpstr>
      <vt:lpstr>PowerPoint Presentation</vt:lpstr>
      <vt:lpstr>Project Workflow</vt:lpstr>
      <vt:lpstr>Research Gap</vt:lpstr>
      <vt:lpstr>Novelty</vt:lpstr>
      <vt:lpstr>Innovation</vt:lpstr>
      <vt:lpstr>Feasibility</vt:lpstr>
      <vt:lpstr>Project Plan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ARSHIYA NAAZ</dc:creator>
  <cp:lastModifiedBy>MOHAMMAD ARSHIYA NAAZ</cp:lastModifiedBy>
  <cp:revision>4</cp:revision>
  <dcterms:created xsi:type="dcterms:W3CDTF">2026-08-14T05:14:41Z</dcterms:created>
  <dcterms:modified xsi:type="dcterms:W3CDTF">2026-08-14T05:43:27Z</dcterms:modified>
</cp:coreProperties>
</file>